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7308421e244400" /><Relationship Type="http://schemas.openxmlformats.org/officeDocument/2006/relationships/extended-properties" Target="/docProps/app.xml" Id="R2a8e4757d15b4862" /><Relationship Type="http://schemas.openxmlformats.org/officeDocument/2006/relationships/officeDocument" Target="/ppt/presentation.xml" Id="R7dd51aea15064b64" /></Relationships>
</file>

<file path=ppt/presentation.xml><?xml version="1.0" encoding="utf-8"?>
<p:presentation xmlns:p="http://schemas.openxmlformats.org/presentationml/2006/main">
  <p:sldMasterIdLst>
    <p:sldMasterId xmlns:r="http://schemas.openxmlformats.org/officeDocument/2006/relationships" id="2147483648" r:id="R7bfabdb9e58f473f"/>
  </p:sldMasterIdLst>
  <p:notesMasterIdLst>
    <p:notesMasterId xmlns:r="http://schemas.openxmlformats.org/officeDocument/2006/relationships" r:id="Rc78d817d02714b48"/>
  </p:notesMasterIdLst>
  <p:sldIdLst>
    <p:sldId xmlns:r="http://schemas.openxmlformats.org/officeDocument/2006/relationships" id="256" r:id="Ra7598818b27942ba"/>
    <p:sldId xmlns:r="http://schemas.openxmlformats.org/officeDocument/2006/relationships" id="257" r:id="Rce4b615acafb48ba"/>
    <p:sldId xmlns:r="http://schemas.openxmlformats.org/officeDocument/2006/relationships" id="258" r:id="Re2b3c47d5f914efb"/>
    <p:sldId xmlns:r="http://schemas.openxmlformats.org/officeDocument/2006/relationships" id="259" r:id="Re1fa8d90388d4a71"/>
    <p:sldId xmlns:r="http://schemas.openxmlformats.org/officeDocument/2006/relationships" id="260" r:id="R075374ae74fa40dc"/>
    <p:sldId xmlns:r="http://schemas.openxmlformats.org/officeDocument/2006/relationships" id="261" r:id="R0958505465054308"/>
    <p:sldId xmlns:r="http://schemas.openxmlformats.org/officeDocument/2006/relationships" id="262" r:id="Ra050681cde1b4b11"/>
    <p:sldId xmlns:r="http://schemas.openxmlformats.org/officeDocument/2006/relationships" id="263" r:id="Re4a56e0f2ad748a0"/>
    <p:sldId xmlns:r="http://schemas.openxmlformats.org/officeDocument/2006/relationships" id="264" r:id="R236be5be35c64538"/>
    <p:sldId xmlns:r="http://schemas.openxmlformats.org/officeDocument/2006/relationships" id="265" r:id="R91a6c16bc9704e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3a116c6d9a4da6" /><Relationship Type="http://schemas.openxmlformats.org/officeDocument/2006/relationships/slideMaster" Target="/ppt/slideMasters/slideMaster1.xml" Id="R7bfabdb9e58f473f" /><Relationship Type="http://schemas.openxmlformats.org/officeDocument/2006/relationships/notesMaster" Target="/ppt/notesMasters/notesMaster1.xml" Id="Rc78d817d02714b48" /><Relationship Type="http://schemas.openxmlformats.org/officeDocument/2006/relationships/presProps" Target="/ppt/presProps.xml" Id="R5d61e6365d64474c" /><Relationship Type="http://schemas.openxmlformats.org/officeDocument/2006/relationships/tableStyles" Target="/ppt/tableStyles.xml" Id="R570fff55e67a426d" /><Relationship Type="http://schemas.openxmlformats.org/officeDocument/2006/relationships/slide" Target="/ppt/slides/slide1.xml" Id="Ra7598818b27942ba" /><Relationship Type="http://schemas.openxmlformats.org/officeDocument/2006/relationships/slide" Target="/ppt/slides/slide2.xml" Id="Rce4b615acafb48ba" /><Relationship Type="http://schemas.openxmlformats.org/officeDocument/2006/relationships/slide" Target="/ppt/slides/slide3.xml" Id="Re2b3c47d5f914efb" /><Relationship Type="http://schemas.openxmlformats.org/officeDocument/2006/relationships/slide" Target="/ppt/slides/slide4.xml" Id="Re1fa8d90388d4a71" /><Relationship Type="http://schemas.openxmlformats.org/officeDocument/2006/relationships/slide" Target="/ppt/slides/slide5.xml" Id="R075374ae74fa40dc" /><Relationship Type="http://schemas.openxmlformats.org/officeDocument/2006/relationships/slide" Target="/ppt/slides/slide6.xml" Id="R0958505465054308" /><Relationship Type="http://schemas.openxmlformats.org/officeDocument/2006/relationships/slide" Target="/ppt/slides/slide7.xml" Id="Ra050681cde1b4b11" /><Relationship Type="http://schemas.openxmlformats.org/officeDocument/2006/relationships/slide" Target="/ppt/slides/slide8.xml" Id="Re4a56e0f2ad748a0" /><Relationship Type="http://schemas.openxmlformats.org/officeDocument/2006/relationships/slide" Target="/ppt/slides/slide9.xml" Id="R236be5be35c64538" /><Relationship Type="http://schemas.openxmlformats.org/officeDocument/2006/relationships/slide" Target="/ppt/slides/slide10.xml" Id="R91a6c16bc9704e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0996351c9e4e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0b2819b3514b91" /><Relationship Type="http://schemas.openxmlformats.org/officeDocument/2006/relationships/notesMaster" Target="/ppt/notesMasters/notesMaster1.xml" Id="R00aaaec6708e4b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d4bfa51aaa43bc" /><Relationship Type="http://schemas.openxmlformats.org/officeDocument/2006/relationships/notesMaster" Target="/ppt/notesMasters/notesMaster1.xml" Id="R029e0bc9b1414f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86221c412d42b9" /><Relationship Type="http://schemas.openxmlformats.org/officeDocument/2006/relationships/notesMaster" Target="/ppt/notesMasters/notesMaster1.xml" Id="Rbc7bc30433374e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01951399c74e1e" /><Relationship Type="http://schemas.openxmlformats.org/officeDocument/2006/relationships/notesMaster" Target="/ppt/notesMasters/notesMaster1.xml" Id="Rc1a36495d33343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b527e4c68d44dd" /><Relationship Type="http://schemas.openxmlformats.org/officeDocument/2006/relationships/notesMaster" Target="/ppt/notesMasters/notesMaster1.xml" Id="Ra61364ef4a2b4f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6a36355bdd47de" /><Relationship Type="http://schemas.openxmlformats.org/officeDocument/2006/relationships/notesMaster" Target="/ppt/notesMasters/notesMaster1.xml" Id="R6a231425e2a846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2d9909979a491c" /><Relationship Type="http://schemas.openxmlformats.org/officeDocument/2006/relationships/notesMaster" Target="/ppt/notesMasters/notesMaster1.xml" Id="R29b1fa010e8f43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2a63c897fe40bb" /><Relationship Type="http://schemas.openxmlformats.org/officeDocument/2006/relationships/notesMaster" Target="/ppt/notesMasters/notesMaster1.xml" Id="R37daa899891541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24a5e6cfc34c09" /><Relationship Type="http://schemas.openxmlformats.org/officeDocument/2006/relationships/notesMaster" Target="/ppt/notesMasters/notesMaster1.xml" Id="R3139e6b78bf744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9bdb2d950943ce" /><Relationship Type="http://schemas.openxmlformats.org/officeDocument/2006/relationships/notesMaster" Target="/ppt/notesMasters/notesMaster1.xml" Id="R913a1ad6af8546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Useful work already exists, but the context needed to evaluate it is fragmented. Attestia’s starting hypothesis is that a structured review becomes more valuable when another community can inspect and reuse it.</a:t>
            </a:r>
          </a:p>
          <a:p xmlns:a="http://schemas.openxmlformats.org/drawingml/2006/main">
            <a:r>
              <a:t/>
            </a:r>
          </a:p>
          <a:p xmlns:a="http://schemas.openxmlformats.org/drawingml/2006/main">
            <a:r>
              <a:t>Source: Attestia — Product Requirements Document, v1.1, supplied by user. Sections 1–3, 5.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begin with organizations that already coordinate reviews, giving Attestia a specific operational entry point. Human and AI collaboration adds a provenance question, but adoption and willingness to pay still need validation.</a:t>
            </a:r>
          </a:p>
          <a:p xmlns:a="http://schemas.openxmlformats.org/drawingml/2006/main">
            <a:r>
              <a:t/>
            </a:r>
          </a:p>
          <a:p xmlns:a="http://schemas.openxmlformats.org/drawingml/2006/main">
            <a:r>
              <a:t>Source: Attestia — Product Requirements Document, v1.1, supplied by user. Sections 2.3, 5, 17, 20.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Attestia preserves evidence and reviewer context that often disappear after a submission is accepted. The value proposition becomes stronger when a second organization uses the same record to inform its own decision.</a:t>
            </a:r>
          </a:p>
          <a:p xmlns:a="http://schemas.openxmlformats.org/drawingml/2006/main">
            <a:r>
              <a:t>Visual: AI-generated illustrative product concept, not a shipped interface. Portability does not include cross-chain writes in the MVP.</a:t>
            </a:r>
          </a:p>
          <a:p xmlns:a="http://schemas.openxmlformats.org/drawingml/2006/main">
            <a:r>
              <a:t/>
            </a:r>
          </a:p>
          <a:p xmlns:a="http://schemas.openxmlformats.org/drawingml/2006/main">
            <a:r>
              <a:t>Source: Attestia — Product Requirements Document, v1.1, supplied by user. Sections 3–4, 6.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specific claim gives the next evaluator more useful information than a generic endorsement. It also defines the reviewer’s responsibility: assess a stated claim against evidence and, where relevant, a documented rubric. Attestations represent reviewer claims, not guarantees of objective truth.</a:t>
            </a:r>
          </a:p>
          <a:p xmlns:a="http://schemas.openxmlformats.org/drawingml/2006/main">
            <a:r>
              <a:t/>
            </a:r>
          </a:p>
          <a:p xmlns:a="http://schemas.openxmlformats.org/drawingml/2006/main">
            <a:r>
              <a:t>Source: Attestia — Product Requirements Document, v1.1, supplied by user. Sections 7, Epic 4; 8.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history needs to reflect corrections without losing accountability for earlier decisions. Attestia makes changes visible and leaves the ultimate judgment with the organization consuming the evidence. The two-to-one example is illustrative, not a measured product result. Agent identity can link to contributions, while policy enforcement is outside MVP scope.</a:t>
            </a:r>
          </a:p>
          <a:p xmlns:a="http://schemas.openxmlformats.org/drawingml/2006/main">
            <a:r>
              <a:t/>
            </a:r>
          </a:p>
          <a:p xmlns:a="http://schemas.openxmlformats.org/drawingml/2006/main">
            <a:r>
              <a:t>Source: Attestia — Product Requirements Document, v1.1, supplied by user. Sections 7, Epics 5 and 7; 10–12.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Attestia’s case depends on solving the review workflow well enough for organizations to adopt it. Repeated use could create valuable context and integrations, but that defensibility hypothesis needs evidence of retention and cross-community reuse. This table describes product focus rather than an independently verified competitor feature audit.</a:t>
            </a:r>
          </a:p>
          <a:p xmlns:a="http://schemas.openxmlformats.org/drawingml/2006/main">
            <a:r>
              <a:t/>
            </a:r>
          </a:p>
          <a:p xmlns:a="http://schemas.openxmlformats.org/drawingml/2006/main">
            <a:r>
              <a:t>Source: Attestia — Product Requirements Document, v1.1, supplied by user. Sections 2.4, 3, 10.4.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market should be measured through identifiable buyers and their existing review workload. A defensible dollar opportunity requires a verified account universe and willingness-to-pay evidence. Separately assess API demand to avoid double counting subscription buyers. No market-size figures are supplied by the PRD.</a:t>
            </a:r>
          </a:p>
          <a:p xmlns:a="http://schemas.openxmlformats.org/drawingml/2006/main">
            <a:r>
              <a:t/>
            </a:r>
          </a:p>
          <a:p xmlns:a="http://schemas.openxmlformats.org/drawingml/2006/main">
            <a:r>
              <a:t>Source: Attestia — Product Requirements Document, v1.1, supplied by user. Sections 20.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Free profiles give contributors a reason to participate, while organizational workflow needs provide the proposed revenue model. Pricing becomes credible when buyers confirm the value and pilot costs show the model can support healthy margins. Costs include RPC and indexing, storage, sponsored gas and support. Charge for workflow and service reliability rather than positive attestation outcomes.</a:t>
            </a:r>
          </a:p>
          <a:p xmlns:a="http://schemas.openxmlformats.org/drawingml/2006/main">
            <a:r>
              <a:t/>
            </a:r>
          </a:p>
          <a:p xmlns:a="http://schemas.openxmlformats.org/drawingml/2006/main">
            <a:r>
              <a:t>Source: Attestia — Product Requirements Document, v1.1, supplied by user. Sections 9.4, 20.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populated profile proves that someone created a record. The stronger signal is repeat contribution activity and another organization choosing to inspect or rely on that history, alongside willingness to pay. Verified Contribution Completion Rate is the percentage of submissions receiving required structured attestations within seven days, with the target still to establish. Metrics are independent and should not be read as one conversion funnel.</a:t>
            </a:r>
          </a:p>
          <a:p xmlns:a="http://schemas.openxmlformats.org/drawingml/2006/main">
            <a:r>
              <a:t/>
            </a:r>
          </a:p>
          <a:p xmlns:a="http://schemas.openxmlformats.org/drawingml/2006/main">
            <a:r>
              <a:t>Source: Attestia — Product Requirements Document, v1.1, supplied by user. Sections 4.3–4.4, 19–20.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converts the product thesis into measurable adoption and reliability milestones. The investment ask should fund enough execution capacity and observation time to establish whether communities repeatedly use these records and will pay for the workflow. The PRD assigns delivery to one builder, so independent contract review, a second multisig signer and a documented handoff are pre-mainnet requirements. Complete privacy, moderation and legal readiness gates before relevant public claims. The 60-day retention result extends beyond Week 10. Raise amount and runway are not supplied.</a:t>
            </a:r>
          </a:p>
          <a:p xmlns:a="http://schemas.openxmlformats.org/drawingml/2006/main">
            <a:r>
              <a:t/>
            </a:r>
          </a:p>
          <a:p xmlns:a="http://schemas.openxmlformats.org/drawingml/2006/main">
            <a:r>
              <a:t>Source: Attestia — Product Requirements Document, v1.1, supplied by user. Sections 17–18, 20–23. Product capabilities are planned unless explicitly identified otherwise. Concept UI and worked examples are illustrative. No independent market research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4cac92c88f4a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3550734bd84cf7" /><Relationship Type="http://schemas.openxmlformats.org/officeDocument/2006/relationships/slideLayout" Target="/ppt/slideLayouts/slideLayout1.xml" Id="R008677b18d584c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8677b18d584c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c76f5d5cb14159" /><Relationship Type="http://schemas.openxmlformats.org/officeDocument/2006/relationships/notesSlide" Target="/ppt/notesSlides/notesSlide1.xml" Id="R194a59d420fd4e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74aa556671475e" /><Relationship Type="http://schemas.openxmlformats.org/officeDocument/2006/relationships/notesSlide" Target="/ppt/notesSlides/notesSlide2.xml" Id="R74bb4d8ec8e249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32126f329043fb" /><Relationship Type="http://schemas.openxmlformats.org/officeDocument/2006/relationships/image" Target="/ppt/media/image.png" Id="Rb79ef9b373d9400d" /><Relationship Type="http://schemas.openxmlformats.org/officeDocument/2006/relationships/notesSlide" Target="/ppt/notesSlides/notesSlide3.xml" Id="Ra1c6c4b41e0147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a2d053a360495a" /><Relationship Type="http://schemas.openxmlformats.org/officeDocument/2006/relationships/notesSlide" Target="/ppt/notesSlides/notesSlide4.xml" Id="R8a6a3c256aa040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02aa1bf65e4615" /><Relationship Type="http://schemas.openxmlformats.org/officeDocument/2006/relationships/notesSlide" Target="/ppt/notesSlides/notesSlide5.xml" Id="R88c56ed00d6e44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45701f894c469f" /><Relationship Type="http://schemas.openxmlformats.org/officeDocument/2006/relationships/notesSlide" Target="/ppt/notesSlides/notesSlide6.xml" Id="R124ec6f2d30544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4bb8acb5d648ae" /><Relationship Type="http://schemas.openxmlformats.org/officeDocument/2006/relationships/notesSlide" Target="/ppt/notesSlides/notesSlide7.xml" Id="Rfa699123cb174c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85dabfefe44358" /><Relationship Type="http://schemas.openxmlformats.org/officeDocument/2006/relationships/notesSlide" Target="/ppt/notesSlides/notesSlide8.xml" Id="Ref1a6b6eff4b4d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78c4322b17c4017" /><Relationship Type="http://schemas.openxmlformats.org/officeDocument/2006/relationships/notesSlide" Target="/ppt/notesSlides/notesSlide9.xml" Id="R4351f825d04d45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50b50414684ecd" /><Relationship Type="http://schemas.openxmlformats.org/officeDocument/2006/relationships/notesSlide" Target="/ppt/notesSlides/notesSlide10.xml" Id="R4c3108c79b0d4da7" /></Relationships>
</file>

<file path=ppt/slides/slide1.xml><?xml version="1.0" encoding="utf-8"?>
<p:sld xmlns:p="http://schemas.openxmlformats.org/presentationml/2006/main">
  <p:cSld>
    <p:bg>
      <p:bgPr>
        <a:solidFill xmlns:a="http://schemas.openxmlformats.org/drawingml/2006/main">
          <a:srgbClr val="10182F"/>
        </a:solidFill>
      </p:bgPr>
    </p:bg>
    <p:spTree>
      <p:nvGrpSpPr>
        <p:cNvPr id="1" name=""/>
        <p:cNvGrpSpPr/>
        <p:nvPr/>
      </p:nvGrpSpPr>
      <p:grpSpPr>
        <a:xfrm xmlns:a="http://schemas.openxmlformats.org/drawingml/2006/main"/>
      </p:grpSpPr>
      <p:sp>
        <p:nvSpPr>
          <p:cNvPr id="10" name="ATTESTIA">
            <a:extLst xmlns:a="http://schemas.openxmlformats.org/drawingml/2006/main">
              <a:ext uri="{FF2B5EF4-FFF2-40B4-BE49-F238E27FC236}">
                <a16:creationId xmlns:a16="http://schemas.microsoft.com/office/drawing/2014/main" id="{807E9D05-B00E-4F2D-8777-2CF2973EB181}"/>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9C1D7"/>
                </a:solidFill>
                <a:latin typeface="Nimbus Sans"/>
                <a:ea typeface="Nimbus Sans"/>
                <a:cs typeface="Nimbus Sans"/>
              </a:defRPr>
            </a:pPr>
            <a:r>
              <a:rPr sz="1500" b="1">
                <a:solidFill>
                  <a:srgbClr val="B9C1D7"/>
                </a:solidFill>
                <a:latin typeface="Nimbus Sans"/>
                <a:ea typeface="Nimbus Sans"/>
                <a:cs typeface="Nimbus Sans"/>
              </a:rPr>
              <a:t>ATTESTIA</a:t>
            </a:r>
          </a:p>
        </p:txBody>
      </p:sp>
      <p:sp>
        <p:nvSpPr>
          <p:cNvPr id="2" name="01 / PROBLEM">
            <a:extLst xmlns:a="http://schemas.openxmlformats.org/drawingml/2006/main">
              <a:ext uri="{FF2B5EF4-FFF2-40B4-BE49-F238E27FC236}">
                <a16:creationId xmlns:a16="http://schemas.microsoft.com/office/drawing/2014/main" id="{B16AC14A-11AD-454D-A786-F0E66C67310E}"/>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9C1D7"/>
                </a:solidFill>
                <a:latin typeface="Nimbus Sans"/>
                <a:ea typeface="Nimbus Sans"/>
                <a:cs typeface="Nimbus Sans"/>
              </a:defRPr>
            </a:pPr>
            <a:r>
              <a:rPr sz="1050" b="0">
                <a:solidFill>
                  <a:srgbClr val="B9C1D7"/>
                </a:solidFill>
                <a:latin typeface="Nimbus Sans"/>
                <a:ea typeface="Nimbus Sans"/>
                <a:cs typeface="Nimbus Sans"/>
              </a:rPr>
              <a:t>01 / PROBLEM</a:t>
            </a:r>
          </a:p>
        </p:txBody>
      </p:sp>
      <p:sp>
        <p:nvSpPr>
          <p:cNvPr id="3" name="Every new community asks contributors&#10;to prov">
            <a:extLst xmlns:a="http://schemas.openxmlformats.org/drawingml/2006/main">
              <a:ext uri="{FF2B5EF4-FFF2-40B4-BE49-F238E27FC236}">
                <a16:creationId xmlns:a16="http://schemas.microsoft.com/office/drawing/2014/main" id="{3C3E9F3E-9E5E-439D-A145-42590191EA2E}"/>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Every new community asks contributors</a:t>
            </a:r>
          </a:p>
          <a:p xmlns:a="http://schemas.openxmlformats.org/drawingml/2006/main">
            <a:pPr>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to prove themselves again</a:t>
            </a:r>
          </a:p>
        </p:txBody>
      </p:sp>
      <p:sp>
        <p:nvSpPr>
          <p:cNvPr id="4" name="Work is scattered.">
            <a:extLst xmlns:a="http://schemas.openxmlformats.org/drawingml/2006/main">
              <a:ext uri="{FF2B5EF4-FFF2-40B4-BE49-F238E27FC236}">
                <a16:creationId xmlns:a16="http://schemas.microsoft.com/office/drawing/2014/main" id="{86619197-18BD-4415-BD0D-BCB9740A4088}"/>
              </a:ext>
            </a:extLst>
          </p:cNvPr>
          <p:cNvSpPr>
            <a:spLocks xmlns:a="http://schemas.openxmlformats.org/drawingml/2006/main" noGrp="1"/>
          </p:cNvSpPr>
          <p:nvPr/>
        </p:nvSpPr>
        <p:spPr>
          <a:xfrm xmlns:a="http://schemas.openxmlformats.org/drawingml/2006/main">
            <a:off x="609600" y="261937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Nimbus Sans"/>
                <a:ea typeface="Nimbus Sans"/>
                <a:cs typeface="Nimbus Sans"/>
              </a:defRPr>
            </a:pPr>
            <a:r>
              <a:rPr sz="2850" b="1">
                <a:solidFill>
                  <a:srgbClr val="FFFFFF"/>
                </a:solidFill>
                <a:latin typeface="Nimbus Sans"/>
                <a:ea typeface="Nimbus Sans"/>
                <a:cs typeface="Nimbus Sans"/>
              </a:rPr>
              <a:t>Work is scattered.</a:t>
            </a:r>
          </a:p>
        </p:txBody>
      </p:sp>
      <p:sp>
        <p:nvSpPr>
          <p:cNvPr id="5" name="Repositories, research documents and bounty s">
            <a:extLst xmlns:a="http://schemas.openxmlformats.org/drawingml/2006/main">
              <a:ext uri="{FF2B5EF4-FFF2-40B4-BE49-F238E27FC236}">
                <a16:creationId xmlns:a16="http://schemas.microsoft.com/office/drawing/2014/main" id="{362224A7-0AC8-4088-AB76-975A07CA3E81}"/>
              </a:ext>
            </a:extLst>
          </p:cNvPr>
          <p:cNvSpPr>
            <a:spLocks xmlns:a="http://schemas.openxmlformats.org/drawingml/2006/main" noGrp="1"/>
          </p:cNvSpPr>
          <p:nvPr/>
        </p:nvSpPr>
        <p:spPr>
          <a:xfrm xmlns:a="http://schemas.openxmlformats.org/drawingml/2006/main">
            <a:off x="609600" y="334327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9C1D7"/>
                </a:solidFill>
                <a:latin typeface="Nimbus Sans"/>
                <a:ea typeface="Nimbus Sans"/>
                <a:cs typeface="Nimbus Sans"/>
              </a:defRPr>
            </a:pPr>
            <a:r>
              <a:rPr sz="2025" b="0">
                <a:solidFill>
                  <a:srgbClr val="B9C1D7"/>
                </a:solidFill>
                <a:latin typeface="Nimbus Sans"/>
                <a:ea typeface="Nimbus Sans"/>
                <a:cs typeface="Nimbus Sans"/>
              </a:rPr>
              <a:t>Repositories, research documents and bounty submissions rarely carry the full review context.</a:t>
            </a:r>
          </a:p>
        </p:txBody>
      </p:sp>
      <p:sp>
        <p:nvSpPr>
          <p:cNvPr id="6" name="Review starts over.">
            <a:extLst xmlns:a="http://schemas.openxmlformats.org/drawingml/2006/main">
              <a:ext uri="{FF2B5EF4-FFF2-40B4-BE49-F238E27FC236}">
                <a16:creationId xmlns:a16="http://schemas.microsoft.com/office/drawing/2014/main" id="{5AA22F56-65F7-4B08-962F-D58C45B2F87E}"/>
              </a:ext>
            </a:extLst>
          </p:cNvPr>
          <p:cNvSpPr>
            <a:spLocks xmlns:a="http://schemas.openxmlformats.org/drawingml/2006/main" noGrp="1"/>
          </p:cNvSpPr>
          <p:nvPr/>
        </p:nvSpPr>
        <p:spPr>
          <a:xfrm xmlns:a="http://schemas.openxmlformats.org/drawingml/2006/main">
            <a:off x="6553200" y="26193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Nimbus Sans"/>
                <a:ea typeface="Nimbus Sans"/>
                <a:cs typeface="Nimbus Sans"/>
              </a:defRPr>
            </a:pPr>
            <a:r>
              <a:rPr sz="2850" b="1">
                <a:solidFill>
                  <a:srgbClr val="FFFFFF"/>
                </a:solidFill>
                <a:latin typeface="Nimbus Sans"/>
                <a:ea typeface="Nimbus Sans"/>
                <a:cs typeface="Nimbus Sans"/>
              </a:rPr>
              <a:t>Review starts over.</a:t>
            </a:r>
          </a:p>
        </p:txBody>
      </p:sp>
      <p:sp>
        <p:nvSpPr>
          <p:cNvPr id="7" name="Organizers reconstruct who did the work, whet">
            <a:extLst xmlns:a="http://schemas.openxmlformats.org/drawingml/2006/main">
              <a:ext uri="{FF2B5EF4-FFF2-40B4-BE49-F238E27FC236}">
                <a16:creationId xmlns:a16="http://schemas.microsoft.com/office/drawing/2014/main" id="{7F6C63AD-E690-44B6-9B64-B794D30D738F}"/>
              </a:ext>
            </a:extLst>
          </p:cNvPr>
          <p:cNvSpPr>
            <a:spLocks xmlns:a="http://schemas.openxmlformats.org/drawingml/2006/main" noGrp="1"/>
          </p:cNvSpPr>
          <p:nvPr/>
        </p:nvSpPr>
        <p:spPr>
          <a:xfrm xmlns:a="http://schemas.openxmlformats.org/drawingml/2006/main">
            <a:off x="6553200" y="334327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9C1D7"/>
                </a:solidFill>
                <a:latin typeface="Nimbus Sans"/>
                <a:ea typeface="Nimbus Sans"/>
                <a:cs typeface="Nimbus Sans"/>
              </a:defRPr>
            </a:pPr>
            <a:r>
              <a:rPr sz="2025" b="0">
                <a:solidFill>
                  <a:srgbClr val="B9C1D7"/>
                </a:solidFill>
                <a:latin typeface="Nimbus Sans"/>
                <a:ea typeface="Nimbus Sans"/>
                <a:cs typeface="Nimbus Sans"/>
              </a:rPr>
              <a:t>Organizers reconstruct who did the work, whether it met the brief and who accepted it.</a:t>
            </a:r>
          </a:p>
        </p:txBody>
      </p:sp>
      <p:sp>
        <p:nvSpPr>
          <p:cNvPr id="8" name="Portable evidence could make the next evaluat">
            <a:extLst xmlns:a="http://schemas.openxmlformats.org/drawingml/2006/main">
              <a:ext uri="{FF2B5EF4-FFF2-40B4-BE49-F238E27FC236}">
                <a16:creationId xmlns:a16="http://schemas.microsoft.com/office/drawing/2014/main" id="{782D3F9B-ED69-4779-9B4C-8383BDC7F1BE}"/>
              </a:ext>
            </a:extLst>
          </p:cNvPr>
          <p:cNvSpPr>
            <a:spLocks xmlns:a="http://schemas.openxmlformats.org/drawingml/2006/main" noGrp="1"/>
          </p:cNvSpPr>
          <p:nvPr/>
        </p:nvSpPr>
        <p:spPr>
          <a:xfrm xmlns:a="http://schemas.openxmlformats.org/drawingml/2006/main">
            <a:off x="609600" y="509587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8A8FF"/>
                </a:solidFill>
                <a:latin typeface="Nimbus Sans"/>
                <a:ea typeface="Nimbus Sans"/>
                <a:cs typeface="Nimbus Sans"/>
              </a:defRPr>
            </a:pPr>
            <a:r>
              <a:rPr sz="2550" b="1">
                <a:solidFill>
                  <a:srgbClr val="B8A8FF"/>
                </a:solidFill>
                <a:latin typeface="Nimbus Sans"/>
                <a:ea typeface="Nimbus Sans"/>
                <a:cs typeface="Nimbus Sans"/>
              </a:rPr>
              <a:t>Portable evidence could make the next evaluation easier.</a:t>
            </a:r>
          </a:p>
        </p:txBody>
      </p:sp>
      <p:sp>
        <p:nvSpPr>
          <p:cNvPr id="9" name="Build-ready product plan • Investment thesis ">
            <a:extLst xmlns:a="http://schemas.openxmlformats.org/drawingml/2006/main">
              <a:ext uri="{FF2B5EF4-FFF2-40B4-BE49-F238E27FC236}">
                <a16:creationId xmlns:a16="http://schemas.microsoft.com/office/drawing/2014/main" id="{70767582-B5CB-4D89-A70D-61BC4CD508C6}"/>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C1D7"/>
                </a:solidFill>
                <a:latin typeface="Nimbus Sans"/>
                <a:ea typeface="Nimbus Sans"/>
                <a:cs typeface="Nimbus Sans"/>
              </a:defRPr>
            </a:pPr>
            <a:r>
              <a:rPr sz="1200" b="0">
                <a:solidFill>
                  <a:srgbClr val="B9C1D7"/>
                </a:solidFill>
                <a:latin typeface="Nimbus Sans"/>
                <a:ea typeface="Nimbus Sans"/>
                <a:cs typeface="Nimbus Sans"/>
              </a:rPr>
              <a:t>Build-ready product plan • Investment thesis to validate</a:t>
            </a:r>
          </a:p>
        </p:txBody>
      </p:sp>
    </p:spTree>
    <p:extLst>
      <p:ext uri="{BB962C8B-B14F-4D97-AF65-F5344CB8AC3E}">
        <p14:creationId xmlns:p14="http://schemas.microsoft.com/office/powerpoint/2010/main" val="20315820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TTESTIA">
            <a:extLst xmlns:a="http://schemas.openxmlformats.org/drawingml/2006/main">
              <a:ext uri="{FF2B5EF4-FFF2-40B4-BE49-F238E27FC236}">
                <a16:creationId xmlns:a16="http://schemas.microsoft.com/office/drawing/2014/main" id="{BF1C3A08-6457-405E-8A85-6A62C9EB2422}"/>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258EF"/>
                </a:solidFill>
                <a:latin typeface="Nimbus Sans"/>
                <a:ea typeface="Nimbus Sans"/>
                <a:cs typeface="Nimbus Sans"/>
              </a:defRPr>
            </a:pPr>
            <a:r>
              <a:rPr sz="1500" b="1">
                <a:solidFill>
                  <a:srgbClr val="7258EF"/>
                </a:solidFill>
                <a:latin typeface="Nimbus Sans"/>
                <a:ea typeface="Nimbus Sans"/>
                <a:cs typeface="Nimbus Sans"/>
              </a:rPr>
              <a:t>ATTESTIA</a:t>
            </a:r>
          </a:p>
        </p:txBody>
      </p:sp>
      <p:sp>
        <p:nvSpPr>
          <p:cNvPr id="2" name="02 / INITIAL CUSTOMER">
            <a:extLst xmlns:a="http://schemas.openxmlformats.org/drawingml/2006/main">
              <a:ext uri="{FF2B5EF4-FFF2-40B4-BE49-F238E27FC236}">
                <a16:creationId xmlns:a16="http://schemas.microsoft.com/office/drawing/2014/main" id="{17AA692D-14B8-46CA-980E-18E4FE567A01}"/>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B80"/>
                </a:solidFill>
                <a:latin typeface="Nimbus Sans"/>
                <a:ea typeface="Nimbus Sans"/>
                <a:cs typeface="Nimbus Sans"/>
              </a:defRPr>
            </a:pPr>
            <a:r>
              <a:rPr sz="1050" b="0">
                <a:solidFill>
                  <a:srgbClr val="626B80"/>
                </a:solidFill>
                <a:latin typeface="Nimbus Sans"/>
                <a:ea typeface="Nimbus Sans"/>
                <a:cs typeface="Nimbus Sans"/>
              </a:rPr>
              <a:t>02 / INITIAL CUSTOMER</a:t>
            </a:r>
          </a:p>
        </p:txBody>
      </p:sp>
      <p:sp>
        <p:nvSpPr>
          <p:cNvPr id="3" name="Start where reviewing contributions&#10;is alread">
            <a:extLst xmlns:a="http://schemas.openxmlformats.org/drawingml/2006/main">
              <a:ext uri="{FF2B5EF4-FFF2-40B4-BE49-F238E27FC236}">
                <a16:creationId xmlns:a16="http://schemas.microsoft.com/office/drawing/2014/main" id="{3DB7C205-EA7B-405C-99D0-D807CBBAC9E1}"/>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Start where reviewing contributions</a:t>
            </a:r>
          </a:p>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is already part of the job</a:t>
            </a:r>
          </a:p>
        </p:txBody>
      </p:sp>
      <p:graphicFrame>
        <p:nvGraphicFramePr>
          <p:cNvPr id="10" name=""/>
          <p:cNvGraphicFramePr/>
          <p:nvPr/>
        </p:nvGraphicFramePr>
        <p:xfrm>
          <a:off xmlns:a="http://schemas.openxmlformats.org/drawingml/2006/main" x="609600" y="2324100"/>
          <a:ext xmlns:a="http://schemas.openxmlformats.org/drawingml/2006/main" cx="10972800" cy="3028950"/>
        </p:xfrm>
        <a:graphic xmlns:a="http://schemas.openxmlformats.org/drawingml/2006/main">
          <a:graphicData uri="http://schemas.openxmlformats.org/drawingml/2006/table">
            <a:tbl>
              <a:tblPr/>
              <a:tblGrid>
                <a:gridCol w="2857500"/>
                <a:gridCol w="3810000"/>
                <a:gridCol w="4305300"/>
              </a:tblGrid>
              <a:tr h="605790">
                <a:tc>
                  <a:txBody>
                    <a:bodyPr/>
                    <a:lstStyle/>
                    <a:p>
                      <a:r>
                        <a:rPr sz="1575" b="1">
                          <a:solidFill>
                            <a:srgbClr val="FFFFFF"/>
                          </a:solidFill>
                          <a:latin typeface="Nimbus Sans"/>
                          <a:ea typeface="Nimbus Sans"/>
                          <a:cs typeface="Nimbus Sans"/>
                        </a:rPr>
                        <a:t>Role</a:t>
                      </a:r>
                    </a:p>
                  </a:txBody>
                  <a:tcPr marL="91440" marR="91440" marT="45720" marB="45720">
                    <a:solidFill>
                      <a:srgbClr val="10182F"/>
                    </a:solidFill>
                  </a:tcPr>
                </a:tc>
                <a:tc>
                  <a:txBody>
                    <a:bodyPr/>
                    <a:lstStyle/>
                    <a:p>
                      <a:r>
                        <a:rPr sz="1575" b="1">
                          <a:solidFill>
                            <a:srgbClr val="FFFFFF"/>
                          </a:solidFill>
                          <a:latin typeface="Nimbus Sans"/>
                          <a:ea typeface="Nimbus Sans"/>
                          <a:cs typeface="Nimbus Sans"/>
                        </a:rPr>
                        <a:t>Job to be done</a:t>
                      </a:r>
                    </a:p>
                  </a:txBody>
                  <a:tcPr marL="91440" marR="91440" marT="45720" marB="45720">
                    <a:solidFill>
                      <a:srgbClr val="10182F"/>
                    </a:solidFill>
                  </a:tcPr>
                </a:tc>
                <a:tc>
                  <a:txBody>
                    <a:bodyPr/>
                    <a:lstStyle/>
                    <a:p>
                      <a:r>
                        <a:rPr sz="1575" b="1">
                          <a:solidFill>
                            <a:srgbClr val="FFFFFF"/>
                          </a:solidFill>
                          <a:latin typeface="Nimbus Sans"/>
                          <a:ea typeface="Nimbus Sans"/>
                          <a:cs typeface="Nimbus Sans"/>
                        </a:rPr>
                        <a:t>Value hypothesis</a:t>
                      </a:r>
                    </a:p>
                  </a:txBody>
                  <a:tcPr marL="91440" marR="91440" marT="45720" marB="45720">
                    <a:solidFill>
                      <a:srgbClr val="10182F"/>
                    </a:solidFill>
                  </a:tcPr>
                </a:tc>
              </a:tr>
              <a:tr h="605790">
                <a:tc>
                  <a:txBody>
                    <a:bodyPr/>
                    <a:lstStyle/>
                    <a:p>
                      <a:r>
                        <a:rPr sz="1725" b="1">
                          <a:solidFill>
                            <a:srgbClr val="10182F"/>
                          </a:solidFill>
                          <a:latin typeface="Nimbus Sans"/>
                          <a:ea typeface="Nimbus Sans"/>
                          <a:cs typeface="Nimbus Sans"/>
                        </a:rPr>
                        <a:t>DAO / hackathon admin</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Coordinate contribution reviews</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Less repeated review coordination</a:t>
                      </a:r>
                    </a:p>
                  </a:txBody>
                  <a:tcPr marL="91440" marR="91440" marT="45720" marB="45720">
                    <a:solidFill>
                      <a:srgbClr val="FFFFFF"/>
                    </a:solidFill>
                  </a:tcPr>
                </a:tc>
              </a:tr>
              <a:tr h="605790">
                <a:tc>
                  <a:txBody>
                    <a:bodyPr/>
                    <a:lstStyle/>
                    <a:p>
                      <a:r>
                        <a:rPr sz="1725" b="1">
                          <a:solidFill>
                            <a:srgbClr val="10182F"/>
                          </a:solidFill>
                          <a:latin typeface="Nimbus Sans"/>
                          <a:ea typeface="Nimbus Sans"/>
                          <a:cs typeface="Nimbus Sans"/>
                        </a:rPr>
                        <a:t>Contributor</a:t>
                      </a:r>
                    </a:p>
                  </a:txBody>
                  <a:tcPr marL="91440" marR="91440" marT="45720" marB="45720">
                    <a:solidFill>
                      <a:srgbClr val="F5F6FA"/>
                    </a:solidFill>
                  </a:tcPr>
                </a:tc>
                <a:tc>
                  <a:txBody>
                    <a:bodyPr/>
                    <a:lstStyle/>
                    <a:p>
                      <a:r>
                        <a:rPr sz="1725" b="0">
                          <a:solidFill>
                            <a:srgbClr val="10182F"/>
                          </a:solidFill>
                          <a:latin typeface="Nimbus Sans"/>
                          <a:ea typeface="Nimbus Sans"/>
                          <a:cs typeface="Nimbus Sans"/>
                        </a:rPr>
                        <a:t>Show accepted work</a:t>
                      </a:r>
                    </a:p>
                  </a:txBody>
                  <a:tcPr marL="91440" marR="91440" marT="45720" marB="45720">
                    <a:solidFill>
                      <a:srgbClr val="F5F6FA"/>
                    </a:solidFill>
                  </a:tcPr>
                </a:tc>
                <a:tc>
                  <a:txBody>
                    <a:bodyPr/>
                    <a:lstStyle/>
                    <a:p>
                      <a:r>
                        <a:rPr sz="1725" b="0">
                          <a:solidFill>
                            <a:srgbClr val="10182F"/>
                          </a:solidFill>
                          <a:latin typeface="Nimbus Sans"/>
                          <a:ea typeface="Nimbus Sans"/>
                          <a:cs typeface="Nimbus Sans"/>
                        </a:rPr>
                        <a:t>Reusable proof of contribution</a:t>
                      </a:r>
                    </a:p>
                  </a:txBody>
                  <a:tcPr marL="91440" marR="91440" marT="45720" marB="45720">
                    <a:solidFill>
                      <a:srgbClr val="F5F6FA"/>
                    </a:solidFill>
                  </a:tcPr>
                </a:tc>
              </a:tr>
              <a:tr h="605790">
                <a:tc>
                  <a:txBody>
                    <a:bodyPr/>
                    <a:lstStyle/>
                    <a:p>
                      <a:r>
                        <a:rPr sz="1725" b="1">
                          <a:solidFill>
                            <a:srgbClr val="10182F"/>
                          </a:solidFill>
                          <a:latin typeface="Nimbus Sans"/>
                          <a:ea typeface="Nimbus Sans"/>
                          <a:cs typeface="Nimbus Sans"/>
                        </a:rPr>
                        <a:t>Reviewer</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Assess a specific claim</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Clear evidence and criteria</a:t>
                      </a:r>
                    </a:p>
                  </a:txBody>
                  <a:tcPr marL="91440" marR="91440" marT="45720" marB="45720">
                    <a:solidFill>
                      <a:srgbClr val="FFFFFF"/>
                    </a:solidFill>
                  </a:tcPr>
                </a:tc>
              </a:tr>
              <a:tr h="605790">
                <a:tc>
                  <a:txBody>
                    <a:bodyPr/>
                    <a:lstStyle/>
                    <a:p>
                      <a:r>
                        <a:rPr sz="1725" b="1">
                          <a:solidFill>
                            <a:srgbClr val="10182F"/>
                          </a:solidFill>
                          <a:latin typeface="Nimbus Sans"/>
                          <a:ea typeface="Nimbus Sans"/>
                          <a:cs typeface="Nimbus Sans"/>
                        </a:rPr>
                        <a:t>External verifier</a:t>
                      </a:r>
                    </a:p>
                  </a:txBody>
                  <a:tcPr marL="91440" marR="91440" marT="45720" marB="45720">
                    <a:solidFill>
                      <a:srgbClr val="F5F6FA"/>
                    </a:solidFill>
                  </a:tcPr>
                </a:tc>
                <a:tc>
                  <a:txBody>
                    <a:bodyPr/>
                    <a:lstStyle/>
                    <a:p>
                      <a:r>
                        <a:rPr sz="1725" b="0">
                          <a:solidFill>
                            <a:srgbClr val="10182F"/>
                          </a:solidFill>
                          <a:latin typeface="Nimbus Sans"/>
                          <a:ea typeface="Nimbus Sans"/>
                          <a:cs typeface="Nimbus Sans"/>
                        </a:rPr>
                        <a:t>Inspect prior work</a:t>
                      </a:r>
                    </a:p>
                  </a:txBody>
                  <a:tcPr marL="91440" marR="91440" marT="45720" marB="45720">
                    <a:solidFill>
                      <a:srgbClr val="F5F6FA"/>
                    </a:solidFill>
                  </a:tcPr>
                </a:tc>
                <a:tc>
                  <a:txBody>
                    <a:bodyPr/>
                    <a:lstStyle/>
                    <a:p>
                      <a:r>
                        <a:rPr sz="1725" b="0">
                          <a:solidFill>
                            <a:srgbClr val="10182F"/>
                          </a:solidFill>
                          <a:latin typeface="Nimbus Sans"/>
                          <a:ea typeface="Nimbus Sans"/>
                          <a:cs typeface="Nimbus Sans"/>
                        </a:rPr>
                        <a:t>Public access without a wallet</a:t>
                      </a:r>
                    </a:p>
                  </a:txBody>
                  <a:tcPr marL="91440" marR="91440" marT="45720" marB="45720">
                    <a:solidFill>
                      <a:srgbClr val="F5F6FA"/>
                    </a:solidFill>
                  </a:tcPr>
                </a:tc>
              </a:tr>
            </a:tbl>
          </a:graphicData>
        </a:graphic>
      </p:graphicFrame>
      <p:sp>
        <p:nvSpPr>
          <p:cNvPr id="5" name="First pilot: one community, one contribution ">
            <a:extLst xmlns:a="http://schemas.openxmlformats.org/drawingml/2006/main">
              <a:ext uri="{FF2B5EF4-FFF2-40B4-BE49-F238E27FC236}">
                <a16:creationId xmlns:a16="http://schemas.microsoft.com/office/drawing/2014/main" id="{A03D5895-EBFE-4CDF-B6D5-67DEE801E6AD}"/>
              </a:ext>
            </a:extLst>
          </p:cNvPr>
          <p:cNvSpPr>
            <a:spLocks xmlns:a="http://schemas.openxmlformats.org/drawingml/2006/main" noGrp="1"/>
          </p:cNvSpPr>
          <p:nvPr/>
        </p:nvSpPr>
        <p:spPr>
          <a:xfrm xmlns:a="http://schemas.openxmlformats.org/drawingml/2006/main">
            <a:off x="609600" y="56007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7258EF"/>
                </a:solidFill>
                <a:latin typeface="Nimbus Sans"/>
                <a:ea typeface="Nimbus Sans"/>
                <a:cs typeface="Nimbus Sans"/>
              </a:defRPr>
            </a:pPr>
            <a:r>
              <a:rPr sz="1950" b="1">
                <a:solidFill>
                  <a:srgbClr val="7258EF"/>
                </a:solidFill>
                <a:latin typeface="Nimbus Sans"/>
                <a:ea typeface="Nimbus Sans"/>
                <a:cs typeface="Nimbus Sans"/>
              </a:rPr>
              <a:t>First pilot: one community, one contribution type, credible reviewers.</a:t>
            </a:r>
          </a:p>
        </p:txBody>
      </p:sp>
      <p:sp>
        <p:nvSpPr>
          <p:cNvPr id="6" name="Initial buyer hypothesis: DAO administrators ">
            <a:extLst xmlns:a="http://schemas.openxmlformats.org/drawingml/2006/main">
              <a:ext uri="{FF2B5EF4-FFF2-40B4-BE49-F238E27FC236}">
                <a16:creationId xmlns:a16="http://schemas.microsoft.com/office/drawing/2014/main" id="{16D5135C-C63B-476E-BEE3-74817F467016}"/>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B80"/>
                </a:solidFill>
                <a:latin typeface="Nimbus Sans"/>
                <a:ea typeface="Nimbus Sans"/>
                <a:cs typeface="Nimbus Sans"/>
              </a:defRPr>
            </a:pPr>
            <a:r>
              <a:rPr sz="1200" b="0">
                <a:solidFill>
                  <a:srgbClr val="626B80"/>
                </a:solidFill>
                <a:latin typeface="Nimbus Sans"/>
                <a:ea typeface="Nimbus Sans"/>
                <a:cs typeface="Nimbus Sans"/>
              </a:rPr>
              <a:t>Initial buyer hypothesis: DAO administrators and hackathon organizers</a:t>
            </a:r>
          </a:p>
        </p:txBody>
      </p:sp>
    </p:spTree>
    <p:extLst>
      <p:ext uri="{BB962C8B-B14F-4D97-AF65-F5344CB8AC3E}">
        <p14:creationId xmlns:p14="http://schemas.microsoft.com/office/powerpoint/2010/main" val="7796454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TTESTIA">
            <a:extLst xmlns:a="http://schemas.openxmlformats.org/drawingml/2006/main">
              <a:ext uri="{FF2B5EF4-FFF2-40B4-BE49-F238E27FC236}">
                <a16:creationId xmlns:a16="http://schemas.microsoft.com/office/drawing/2014/main" id="{4A7C9E5A-D08A-4D02-9053-3C1FE5C14882}"/>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258EF"/>
                </a:solidFill>
                <a:latin typeface="Nimbus Sans"/>
                <a:ea typeface="Nimbus Sans"/>
                <a:cs typeface="Nimbus Sans"/>
              </a:defRPr>
            </a:pPr>
            <a:r>
              <a:rPr sz="1500" b="1">
                <a:solidFill>
                  <a:srgbClr val="7258EF"/>
                </a:solidFill>
                <a:latin typeface="Nimbus Sans"/>
                <a:ea typeface="Nimbus Sans"/>
                <a:cs typeface="Nimbus Sans"/>
              </a:rPr>
              <a:t>ATTESTIA</a:t>
            </a:r>
          </a:p>
        </p:txBody>
      </p:sp>
      <p:sp>
        <p:nvSpPr>
          <p:cNvPr id="2" name="03 / SOLUTION">
            <a:extLst xmlns:a="http://schemas.openxmlformats.org/drawingml/2006/main">
              <a:ext uri="{FF2B5EF4-FFF2-40B4-BE49-F238E27FC236}">
                <a16:creationId xmlns:a16="http://schemas.microsoft.com/office/drawing/2014/main" id="{D9902EC9-0274-4C0C-895D-E1D64E27F6F7}"/>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B80"/>
                </a:solidFill>
                <a:latin typeface="Nimbus Sans"/>
                <a:ea typeface="Nimbus Sans"/>
                <a:cs typeface="Nimbus Sans"/>
              </a:defRPr>
            </a:pPr>
            <a:r>
              <a:rPr sz="1050" b="0">
                <a:solidFill>
                  <a:srgbClr val="626B80"/>
                </a:solidFill>
                <a:latin typeface="Nimbus Sans"/>
                <a:ea typeface="Nimbus Sans"/>
                <a:cs typeface="Nimbus Sans"/>
              </a:rPr>
              <a:t>03 / SOLUTION</a:t>
            </a:r>
          </a:p>
        </p:txBody>
      </p:sp>
      <p:sp>
        <p:nvSpPr>
          <p:cNvPr id="3" name="One reviewed contribution becomes&#10;a reusable ">
            <a:extLst xmlns:a="http://schemas.openxmlformats.org/drawingml/2006/main">
              <a:ext uri="{FF2B5EF4-FFF2-40B4-BE49-F238E27FC236}">
                <a16:creationId xmlns:a16="http://schemas.microsoft.com/office/drawing/2014/main" id="{CE621A77-576F-4FB5-8683-EF7184159BEE}"/>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One reviewed contribution becomes</a:t>
            </a:r>
          </a:p>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a reusable work credential</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79ef9b373d9400d"/>
          <a:stretch xmlns:a="http://schemas.openxmlformats.org/drawingml/2006/main"/>
        </p:blipFill>
        <p:spPr>
          <a:xfrm xmlns:a="http://schemas.openxmlformats.org/drawingml/2006/main">
            <a:off x="5212556" y="2171700"/>
            <a:ext cx="5786438" cy="3857625"/>
          </a:xfrm>
          <a:prstGeom xmlns:a="http://schemas.openxmlformats.org/drawingml/2006/main" prst="rect">
            <a:avLst/>
          </a:prstGeom>
        </p:spPr>
      </p:pic>
      <p:sp>
        <p:nvSpPr>
          <p:cNvPr id="5" name="Submit evidence">
            <a:extLst xmlns:a="http://schemas.openxmlformats.org/drawingml/2006/main">
              <a:ext uri="{FF2B5EF4-FFF2-40B4-BE49-F238E27FC236}">
                <a16:creationId xmlns:a16="http://schemas.microsoft.com/office/drawing/2014/main" id="{8D926807-1264-4175-BE76-6370DA9981C0}"/>
              </a:ext>
            </a:extLst>
          </p:cNvPr>
          <p:cNvSpPr>
            <a:spLocks xmlns:a="http://schemas.openxmlformats.org/drawingml/2006/main" noGrp="1"/>
          </p:cNvSpPr>
          <p:nvPr/>
        </p:nvSpPr>
        <p:spPr>
          <a:xfrm xmlns:a="http://schemas.openxmlformats.org/drawingml/2006/main">
            <a:off x="609600" y="2352675"/>
            <a:ext cx="3790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182F"/>
                </a:solidFill>
                <a:latin typeface="Nimbus Sans"/>
                <a:ea typeface="Nimbus Sans"/>
                <a:cs typeface="Nimbus Sans"/>
              </a:defRPr>
            </a:pPr>
            <a:r>
              <a:rPr sz="2175" b="1">
                <a:solidFill>
                  <a:srgbClr val="10182F"/>
                </a:solidFill>
                <a:latin typeface="Nimbus Sans"/>
                <a:ea typeface="Nimbus Sans"/>
                <a:cs typeface="Nimbus Sans"/>
              </a:rPr>
              <a:t>Submit evidence</a:t>
            </a:r>
          </a:p>
        </p:txBody>
      </p:sp>
      <p:sp>
        <p:nvSpPr>
          <p:cNvPr id="6" name="Artifact, sources and disclosed AI involvemen">
            <a:extLst xmlns:a="http://schemas.openxmlformats.org/drawingml/2006/main">
              <a:ext uri="{FF2B5EF4-FFF2-40B4-BE49-F238E27FC236}">
                <a16:creationId xmlns:a16="http://schemas.microsoft.com/office/drawing/2014/main" id="{B39E6AA9-3B5E-4606-846A-A60F5A43B21A}"/>
              </a:ext>
            </a:extLst>
          </p:cNvPr>
          <p:cNvSpPr>
            <a:spLocks xmlns:a="http://schemas.openxmlformats.org/drawingml/2006/main" noGrp="1"/>
          </p:cNvSpPr>
          <p:nvPr/>
        </p:nvSpPr>
        <p:spPr>
          <a:xfrm xmlns:a="http://schemas.openxmlformats.org/drawingml/2006/main">
            <a:off x="609600" y="2790825"/>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B80"/>
                </a:solidFill>
                <a:latin typeface="Nimbus Sans"/>
                <a:ea typeface="Nimbus Sans"/>
                <a:cs typeface="Nimbus Sans"/>
              </a:defRPr>
            </a:pPr>
            <a:r>
              <a:rPr sz="1800" b="0">
                <a:solidFill>
                  <a:srgbClr val="626B80"/>
                </a:solidFill>
                <a:latin typeface="Nimbus Sans"/>
                <a:ea typeface="Nimbus Sans"/>
                <a:cs typeface="Nimbus Sans"/>
              </a:rPr>
              <a:t>Artifact, sources and disclosed AI involvement.</a:t>
            </a:r>
          </a:p>
        </p:txBody>
      </p:sp>
      <p:sp>
        <p:nvSpPr>
          <p:cNvPr id="7" name="Review specific claims">
            <a:extLst xmlns:a="http://schemas.openxmlformats.org/drawingml/2006/main">
              <a:ext uri="{FF2B5EF4-FFF2-40B4-BE49-F238E27FC236}">
                <a16:creationId xmlns:a16="http://schemas.microsoft.com/office/drawing/2014/main" id="{E2314451-2DEE-46BD-BD4C-0A709E18B255}"/>
              </a:ext>
            </a:extLst>
          </p:cNvPr>
          <p:cNvSpPr>
            <a:spLocks xmlns:a="http://schemas.openxmlformats.org/drawingml/2006/main" noGrp="1"/>
          </p:cNvSpPr>
          <p:nvPr/>
        </p:nvSpPr>
        <p:spPr>
          <a:xfrm xmlns:a="http://schemas.openxmlformats.org/drawingml/2006/main">
            <a:off x="609600" y="36957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182F"/>
                </a:solidFill>
                <a:latin typeface="Nimbus Sans"/>
                <a:ea typeface="Nimbus Sans"/>
                <a:cs typeface="Nimbus Sans"/>
              </a:defRPr>
            </a:pPr>
            <a:r>
              <a:rPr sz="2175" b="1">
                <a:solidFill>
                  <a:srgbClr val="10182F"/>
                </a:solidFill>
                <a:latin typeface="Nimbus Sans"/>
                <a:ea typeface="Nimbus Sans"/>
                <a:cs typeface="Nimbus Sans"/>
              </a:rPr>
              <a:t>Review specific claims</a:t>
            </a:r>
          </a:p>
        </p:txBody>
      </p:sp>
      <p:sp>
        <p:nvSpPr>
          <p:cNvPr id="8" name="Preserve the decision and its supporting cont">
            <a:extLst xmlns:a="http://schemas.openxmlformats.org/drawingml/2006/main">
              <a:ext uri="{FF2B5EF4-FFF2-40B4-BE49-F238E27FC236}">
                <a16:creationId xmlns:a16="http://schemas.microsoft.com/office/drawing/2014/main" id="{D96F8219-4DA1-4365-B5EB-4C4FB6849FAB}"/>
              </a:ext>
            </a:extLst>
          </p:cNvPr>
          <p:cNvSpPr>
            <a:spLocks xmlns:a="http://schemas.openxmlformats.org/drawingml/2006/main" noGrp="1"/>
          </p:cNvSpPr>
          <p:nvPr/>
        </p:nvSpPr>
        <p:spPr>
          <a:xfrm xmlns:a="http://schemas.openxmlformats.org/drawingml/2006/main">
            <a:off x="609600" y="417195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B80"/>
                </a:solidFill>
                <a:latin typeface="Nimbus Sans"/>
                <a:ea typeface="Nimbus Sans"/>
                <a:cs typeface="Nimbus Sans"/>
              </a:defRPr>
            </a:pPr>
            <a:r>
              <a:rPr sz="1800" b="0">
                <a:solidFill>
                  <a:srgbClr val="626B80"/>
                </a:solidFill>
                <a:latin typeface="Nimbus Sans"/>
                <a:ea typeface="Nimbus Sans"/>
                <a:cs typeface="Nimbus Sans"/>
              </a:rPr>
              <a:t>Preserve the decision and its supporting context.</a:t>
            </a:r>
          </a:p>
        </p:txBody>
      </p:sp>
      <p:sp>
        <p:nvSpPr>
          <p:cNvPr id="9" name="Reuse the record">
            <a:extLst xmlns:a="http://schemas.openxmlformats.org/drawingml/2006/main">
              <a:ext uri="{FF2B5EF4-FFF2-40B4-BE49-F238E27FC236}">
                <a16:creationId xmlns:a16="http://schemas.microsoft.com/office/drawing/2014/main" id="{91EE53FA-9946-4FB6-B0E0-40A37FD073C1}"/>
              </a:ext>
            </a:extLst>
          </p:cNvPr>
          <p:cNvSpPr>
            <a:spLocks xmlns:a="http://schemas.openxmlformats.org/drawingml/2006/main" noGrp="1"/>
          </p:cNvSpPr>
          <p:nvPr/>
        </p:nvSpPr>
        <p:spPr>
          <a:xfrm xmlns:a="http://schemas.openxmlformats.org/drawingml/2006/main">
            <a:off x="609600" y="51435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7258EF"/>
                </a:solidFill>
                <a:latin typeface="Nimbus Sans"/>
                <a:ea typeface="Nimbus Sans"/>
                <a:cs typeface="Nimbus Sans"/>
              </a:defRPr>
            </a:pPr>
            <a:r>
              <a:rPr sz="2175" b="1">
                <a:solidFill>
                  <a:srgbClr val="7258EF"/>
                </a:solidFill>
                <a:latin typeface="Nimbus Sans"/>
                <a:ea typeface="Nimbus Sans"/>
                <a:cs typeface="Nimbus Sans"/>
              </a:rPr>
              <a:t>Reuse the record</a:t>
            </a:r>
          </a:p>
        </p:txBody>
      </p:sp>
      <p:sp>
        <p:nvSpPr>
          <p:cNvPr id="10" name="Public page, export or API.">
            <a:extLst xmlns:a="http://schemas.openxmlformats.org/drawingml/2006/main">
              <a:ext uri="{FF2B5EF4-FFF2-40B4-BE49-F238E27FC236}">
                <a16:creationId xmlns:a16="http://schemas.microsoft.com/office/drawing/2014/main" id="{B5C85F20-3BA4-4EC7-B241-1772D89CEF65}"/>
              </a:ext>
            </a:extLst>
          </p:cNvPr>
          <p:cNvSpPr>
            <a:spLocks xmlns:a="http://schemas.openxmlformats.org/drawingml/2006/main" noGrp="1"/>
          </p:cNvSpPr>
          <p:nvPr/>
        </p:nvSpPr>
        <p:spPr>
          <a:xfrm xmlns:a="http://schemas.openxmlformats.org/drawingml/2006/main">
            <a:off x="609600" y="55816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26B80"/>
                </a:solidFill>
                <a:latin typeface="Nimbus Sans"/>
                <a:ea typeface="Nimbus Sans"/>
                <a:cs typeface="Nimbus Sans"/>
              </a:defRPr>
            </a:pPr>
            <a:r>
              <a:rPr sz="1800" b="0">
                <a:solidFill>
                  <a:srgbClr val="626B80"/>
                </a:solidFill>
                <a:latin typeface="Nimbus Sans"/>
                <a:ea typeface="Nimbus Sans"/>
                <a:cs typeface="Nimbus Sans"/>
              </a:rPr>
              <a:t>Public page, export or API.</a:t>
            </a:r>
          </a:p>
        </p:txBody>
      </p:sp>
      <p:sp>
        <p:nvSpPr>
          <p:cNvPr id="11" name="MVP portability: shared reads and verificatio">
            <a:extLst xmlns:a="http://schemas.openxmlformats.org/drawingml/2006/main">
              <a:ext uri="{FF2B5EF4-FFF2-40B4-BE49-F238E27FC236}">
                <a16:creationId xmlns:a16="http://schemas.microsoft.com/office/drawing/2014/main" id="{7E6CF7B9-2983-4F9A-9B31-8C89CB9DECA0}"/>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B80"/>
                </a:solidFill>
                <a:latin typeface="Nimbus Sans"/>
                <a:ea typeface="Nimbus Sans"/>
                <a:cs typeface="Nimbus Sans"/>
              </a:defRPr>
            </a:pPr>
            <a:r>
              <a:rPr sz="1200" b="0">
                <a:solidFill>
                  <a:srgbClr val="626B80"/>
                </a:solidFill>
                <a:latin typeface="Nimbus Sans"/>
                <a:ea typeface="Nimbus Sans"/>
                <a:cs typeface="Nimbus Sans"/>
              </a:rPr>
              <a:t>MVP portability: shared reads and verification of a Monad-anchored record</a:t>
            </a:r>
          </a:p>
        </p:txBody>
      </p:sp>
    </p:spTree>
    <p:extLst>
      <p:ext uri="{BB962C8B-B14F-4D97-AF65-F5344CB8AC3E}">
        <p14:creationId xmlns:p14="http://schemas.microsoft.com/office/powerpoint/2010/main" val="2881511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TTESTIA">
            <a:extLst xmlns:a="http://schemas.openxmlformats.org/drawingml/2006/main">
              <a:ext uri="{FF2B5EF4-FFF2-40B4-BE49-F238E27FC236}">
                <a16:creationId xmlns:a16="http://schemas.microsoft.com/office/drawing/2014/main" id="{1379FE45-530A-4EB8-8C16-0B051951D3BE}"/>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258EF"/>
                </a:solidFill>
                <a:latin typeface="Nimbus Sans"/>
                <a:ea typeface="Nimbus Sans"/>
                <a:cs typeface="Nimbus Sans"/>
              </a:defRPr>
            </a:pPr>
            <a:r>
              <a:rPr sz="1500" b="1">
                <a:solidFill>
                  <a:srgbClr val="7258EF"/>
                </a:solidFill>
                <a:latin typeface="Nimbus Sans"/>
                <a:ea typeface="Nimbus Sans"/>
                <a:cs typeface="Nimbus Sans"/>
              </a:rPr>
              <a:t>ATTESTIA</a:t>
            </a:r>
          </a:p>
        </p:txBody>
      </p:sp>
      <p:sp>
        <p:nvSpPr>
          <p:cNvPr id="2" name="04 / PRODUCT / CLAIMS">
            <a:extLst xmlns:a="http://schemas.openxmlformats.org/drawingml/2006/main">
              <a:ext uri="{FF2B5EF4-FFF2-40B4-BE49-F238E27FC236}">
                <a16:creationId xmlns:a16="http://schemas.microsoft.com/office/drawing/2014/main" id="{BA2AC334-874D-4104-9362-4C5DC31F2DF3}"/>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B80"/>
                </a:solidFill>
                <a:latin typeface="Nimbus Sans"/>
                <a:ea typeface="Nimbus Sans"/>
                <a:cs typeface="Nimbus Sans"/>
              </a:defRPr>
            </a:pPr>
            <a:r>
              <a:rPr sz="1050" b="0">
                <a:solidFill>
                  <a:srgbClr val="626B80"/>
                </a:solidFill>
                <a:latin typeface="Nimbus Sans"/>
                <a:ea typeface="Nimbus Sans"/>
                <a:cs typeface="Nimbus Sans"/>
              </a:rPr>
              <a:t>04 / PRODUCT / CLAIMS</a:t>
            </a:r>
          </a:p>
        </p:txBody>
      </p:sp>
      <p:sp>
        <p:nvSpPr>
          <p:cNvPr id="3" name="Specific claims make work history&#10;easier to e">
            <a:extLst xmlns:a="http://schemas.openxmlformats.org/drawingml/2006/main">
              <a:ext uri="{FF2B5EF4-FFF2-40B4-BE49-F238E27FC236}">
                <a16:creationId xmlns:a16="http://schemas.microsoft.com/office/drawing/2014/main" id="{6332DE9A-DCA2-4B3A-85B8-CFB94C8D82DA}"/>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Specific claims make work history</a:t>
            </a:r>
          </a:p>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easier to evaluate</a:t>
            </a:r>
          </a:p>
        </p:txBody>
      </p:sp>
      <p:graphicFrame>
        <p:nvGraphicFramePr>
          <p:cNvPr id="9" name=""/>
          <p:cNvGraphicFramePr/>
          <p:nvPr/>
        </p:nvGraphicFramePr>
        <p:xfrm>
          <a:off xmlns:a="http://schemas.openxmlformats.org/drawingml/2006/main" x="609600" y="2247900"/>
          <a:ext xmlns:a="http://schemas.openxmlformats.org/drawingml/2006/main" cx="10972800" cy="3333750"/>
        </p:xfrm>
        <a:graphic xmlns:a="http://schemas.openxmlformats.org/drawingml/2006/main">
          <a:graphicData uri="http://schemas.openxmlformats.org/drawingml/2006/table">
            <a:tbl>
              <a:tblPr/>
              <a:tblGrid>
                <a:gridCol w="2619375"/>
                <a:gridCol w="8353425"/>
              </a:tblGrid>
              <a:tr h="555625">
                <a:tc>
                  <a:txBody>
                    <a:bodyPr/>
                    <a:lstStyle/>
                    <a:p>
                      <a:r>
                        <a:rPr sz="1650" b="1">
                          <a:solidFill>
                            <a:srgbClr val="FFFFFF"/>
                          </a:solidFill>
                          <a:latin typeface="Nimbus Sans"/>
                          <a:ea typeface="Nimbus Sans"/>
                          <a:cs typeface="Nimbus Sans"/>
                        </a:rPr>
                        <a:t>Claim</a:t>
                      </a:r>
                    </a:p>
                  </a:txBody>
                  <a:tcPr marL="91440" marR="91440" marT="45720" marB="45720">
                    <a:solidFill>
                      <a:srgbClr val="10182F"/>
                    </a:solidFill>
                  </a:tcPr>
                </a:tc>
                <a:tc>
                  <a:txBody>
                    <a:bodyPr/>
                    <a:lstStyle/>
                    <a:p>
                      <a:r>
                        <a:rPr sz="1650" b="1">
                          <a:solidFill>
                            <a:srgbClr val="FFFFFF"/>
                          </a:solidFill>
                          <a:latin typeface="Nimbus Sans"/>
                          <a:ea typeface="Nimbus Sans"/>
                          <a:cs typeface="Nimbus Sans"/>
                        </a:rPr>
                        <a:t>What the reviewer assesses</a:t>
                      </a:r>
                    </a:p>
                  </a:txBody>
                  <a:tcPr marL="91440" marR="91440" marT="45720" marB="45720">
                    <a:solidFill>
                      <a:srgbClr val="10182F"/>
                    </a:solidFill>
                  </a:tcPr>
                </a:tc>
              </a:tr>
              <a:tr h="555625">
                <a:tc>
                  <a:txBody>
                    <a:bodyPr/>
                    <a:lstStyle/>
                    <a:p>
                      <a:r>
                        <a:rPr sz="1800" b="1">
                          <a:solidFill>
                            <a:srgbClr val="10182F"/>
                          </a:solidFill>
                          <a:latin typeface="Nimbus Sans"/>
                          <a:ea typeface="Nimbus Sans"/>
                          <a:cs typeface="Nimbus Sans"/>
                        </a:rPr>
                        <a:t>Authorship</a:t>
                      </a:r>
                    </a:p>
                  </a:txBody>
                  <a:tcPr marL="91440" marR="91440" marT="45720" marB="45720">
                    <a:solidFill>
                      <a:srgbClr val="FFFFFF"/>
                    </a:solidFill>
                  </a:tcPr>
                </a:tc>
                <a:tc>
                  <a:txBody>
                    <a:bodyPr/>
                    <a:lstStyle/>
                    <a:p>
                      <a:r>
                        <a:rPr sz="1800" b="0">
                          <a:solidFill>
                            <a:srgbClr val="10182F"/>
                          </a:solidFill>
                          <a:latin typeface="Nimbus Sans"/>
                          <a:ea typeface="Nimbus Sans"/>
                          <a:cs typeface="Nimbus Sans"/>
                        </a:rPr>
                        <a:t>Who created the work</a:t>
                      </a:r>
                    </a:p>
                  </a:txBody>
                  <a:tcPr marL="91440" marR="91440" marT="45720" marB="45720">
                    <a:solidFill>
                      <a:srgbClr val="FFFFFF"/>
                    </a:solidFill>
                  </a:tcPr>
                </a:tc>
              </a:tr>
              <a:tr h="555625">
                <a:tc>
                  <a:txBody>
                    <a:bodyPr/>
                    <a:lstStyle/>
                    <a:p>
                      <a:r>
                        <a:rPr sz="1800" b="1">
                          <a:solidFill>
                            <a:srgbClr val="10182F"/>
                          </a:solidFill>
                          <a:latin typeface="Nimbus Sans"/>
                          <a:ea typeface="Nimbus Sans"/>
                          <a:cs typeface="Nimbus Sans"/>
                        </a:rPr>
                        <a:t>Completion</a:t>
                      </a:r>
                    </a:p>
                  </a:txBody>
                  <a:tcPr marL="91440" marR="91440" marT="45720" marB="45720">
                    <a:solidFill>
                      <a:srgbClr val="F5F6FA"/>
                    </a:solidFill>
                  </a:tcPr>
                </a:tc>
                <a:tc>
                  <a:txBody>
                    <a:bodyPr/>
                    <a:lstStyle/>
                    <a:p>
                      <a:r>
                        <a:rPr sz="1800" b="0">
                          <a:solidFill>
                            <a:srgbClr val="10182F"/>
                          </a:solidFill>
                          <a:latin typeface="Nimbus Sans"/>
                          <a:ea typeface="Nimbus Sans"/>
                          <a:cs typeface="Nimbus Sans"/>
                        </a:rPr>
                        <a:t>Whether the requested scope was delivered</a:t>
                      </a:r>
                    </a:p>
                  </a:txBody>
                  <a:tcPr marL="91440" marR="91440" marT="45720" marB="45720">
                    <a:solidFill>
                      <a:srgbClr val="F5F6FA"/>
                    </a:solidFill>
                  </a:tcPr>
                </a:tc>
              </a:tr>
              <a:tr h="555625">
                <a:tc>
                  <a:txBody>
                    <a:bodyPr/>
                    <a:lstStyle/>
                    <a:p>
                      <a:r>
                        <a:rPr sz="1800" b="1">
                          <a:solidFill>
                            <a:srgbClr val="10182F"/>
                          </a:solidFill>
                          <a:latin typeface="Nimbus Sans"/>
                          <a:ea typeface="Nimbus Sans"/>
                          <a:cs typeface="Nimbus Sans"/>
                        </a:rPr>
                        <a:t>Quality</a:t>
                      </a:r>
                    </a:p>
                  </a:txBody>
                  <a:tcPr marL="91440" marR="91440" marT="45720" marB="45720">
                    <a:solidFill>
                      <a:srgbClr val="FFFFFF"/>
                    </a:solidFill>
                  </a:tcPr>
                </a:tc>
                <a:tc>
                  <a:txBody>
                    <a:bodyPr/>
                    <a:lstStyle/>
                    <a:p>
                      <a:r>
                        <a:rPr sz="1800" b="0">
                          <a:solidFill>
                            <a:srgbClr val="10182F"/>
                          </a:solidFill>
                          <a:latin typeface="Nimbus Sans"/>
                          <a:ea typeface="Nimbus Sans"/>
                          <a:cs typeface="Nimbus Sans"/>
                        </a:rPr>
                        <a:t>Whether the work meets a versioned rubric</a:t>
                      </a:r>
                    </a:p>
                  </a:txBody>
                  <a:tcPr marL="91440" marR="91440" marT="45720" marB="45720">
                    <a:solidFill>
                      <a:srgbClr val="FFFFFF"/>
                    </a:solidFill>
                  </a:tcPr>
                </a:tc>
              </a:tr>
              <a:tr h="555625">
                <a:tc>
                  <a:txBody>
                    <a:bodyPr/>
                    <a:lstStyle/>
                    <a:p>
                      <a:r>
                        <a:rPr sz="1800" b="1">
                          <a:solidFill>
                            <a:srgbClr val="10182F"/>
                          </a:solidFill>
                          <a:latin typeface="Nimbus Sans"/>
                          <a:ea typeface="Nimbus Sans"/>
                          <a:cs typeface="Nimbus Sans"/>
                        </a:rPr>
                        <a:t>Usage</a:t>
                      </a:r>
                    </a:p>
                  </a:txBody>
                  <a:tcPr marL="91440" marR="91440" marT="45720" marB="45720">
                    <a:solidFill>
                      <a:srgbClr val="F5F6FA"/>
                    </a:solidFill>
                  </a:tcPr>
                </a:tc>
                <a:tc>
                  <a:txBody>
                    <a:bodyPr/>
                    <a:lstStyle/>
                    <a:p>
                      <a:r>
                        <a:rPr sz="1800" b="0">
                          <a:solidFill>
                            <a:srgbClr val="10182F"/>
                          </a:solidFill>
                          <a:latin typeface="Nimbus Sans"/>
                          <a:ea typeface="Nimbus Sans"/>
                          <a:cs typeface="Nimbus Sans"/>
                        </a:rPr>
                        <a:t>Whether someone accepted, merged or used the work</a:t>
                      </a:r>
                    </a:p>
                  </a:txBody>
                  <a:tcPr marL="91440" marR="91440" marT="45720" marB="45720">
                    <a:solidFill>
                      <a:srgbClr val="F5F6FA"/>
                    </a:solidFill>
                  </a:tcPr>
                </a:tc>
              </a:tr>
              <a:tr h="555625">
                <a:tc>
                  <a:txBody>
                    <a:bodyPr/>
                    <a:lstStyle/>
                    <a:p>
                      <a:r>
                        <a:rPr sz="1800" b="1">
                          <a:solidFill>
                            <a:srgbClr val="10182F"/>
                          </a:solidFill>
                          <a:latin typeface="Nimbus Sans"/>
                          <a:ea typeface="Nimbus Sans"/>
                          <a:cs typeface="Nimbus Sans"/>
                        </a:rPr>
                        <a:t>Provenance</a:t>
                      </a:r>
                    </a:p>
                  </a:txBody>
                  <a:tcPr marL="91440" marR="91440" marT="45720" marB="45720">
                    <a:solidFill>
                      <a:srgbClr val="FFFFFF"/>
                    </a:solidFill>
                  </a:tcPr>
                </a:tc>
                <a:tc>
                  <a:txBody>
                    <a:bodyPr/>
                    <a:lstStyle/>
                    <a:p>
                      <a:r>
                        <a:rPr sz="1800" b="0">
                          <a:solidFill>
                            <a:srgbClr val="10182F"/>
                          </a:solidFill>
                          <a:latin typeface="Nimbus Sans"/>
                          <a:ea typeface="Nimbus Sans"/>
                          <a:cs typeface="Nimbus Sans"/>
                        </a:rPr>
                        <a:t>Whether disclosures align with available evidence</a:t>
                      </a:r>
                    </a:p>
                  </a:txBody>
                  <a:tcPr marL="91440" marR="91440" marT="45720" marB="45720">
                    <a:solidFill>
                      <a:srgbClr val="FFFFFF"/>
                    </a:solidFill>
                  </a:tcPr>
                </a:tc>
              </a:tr>
            </a:tbl>
          </a:graphicData>
        </a:graphic>
      </p:graphicFrame>
      <p:sp>
        <p:nvSpPr>
          <p:cNvPr id="5" name="Every claim retains its reviewer, evidence re">
            <a:extLst xmlns:a="http://schemas.openxmlformats.org/drawingml/2006/main">
              <a:ext uri="{FF2B5EF4-FFF2-40B4-BE49-F238E27FC236}">
                <a16:creationId xmlns:a16="http://schemas.microsoft.com/office/drawing/2014/main" id="{0E4BAFD1-1B3C-4F10-B798-25E126E22F01}"/>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B80"/>
                </a:solidFill>
                <a:latin typeface="Nimbus Sans"/>
                <a:ea typeface="Nimbus Sans"/>
                <a:cs typeface="Nimbus Sans"/>
              </a:defRPr>
            </a:pPr>
            <a:r>
              <a:rPr sz="1200" b="0">
                <a:solidFill>
                  <a:srgbClr val="626B80"/>
                </a:solidFill>
                <a:latin typeface="Nimbus Sans"/>
                <a:ea typeface="Nimbus Sans"/>
                <a:cs typeface="Nimbus Sans"/>
              </a:rPr>
              <a:t>Every claim retains its reviewer, evidence reference and lifecycle state</a:t>
            </a:r>
          </a:p>
        </p:txBody>
      </p:sp>
    </p:spTree>
    <p:extLst>
      <p:ext uri="{BB962C8B-B14F-4D97-AF65-F5344CB8AC3E}">
        <p14:creationId xmlns:p14="http://schemas.microsoft.com/office/powerpoint/2010/main" val="610718774"/>
      </p:ext>
    </p:extLst>
  </p:cSld>
</p:sld>
</file>

<file path=ppt/slides/slide5.xml><?xml version="1.0" encoding="utf-8"?>
<p:sld xmlns:p="http://schemas.openxmlformats.org/presentationml/2006/main">
  <p:cSld>
    <p:bg>
      <p:bgPr>
        <a:solidFill xmlns:a="http://schemas.openxmlformats.org/drawingml/2006/main">
          <a:srgbClr val="10182F"/>
        </a:solidFill>
      </p:bgPr>
    </p:bg>
    <p:spTree>
      <p:nvGrpSpPr>
        <p:cNvPr id="1" name=""/>
        <p:cNvGrpSpPr/>
        <p:nvPr/>
      </p:nvGrpSpPr>
      <p:grpSpPr>
        <a:xfrm xmlns:a="http://schemas.openxmlformats.org/drawingml/2006/main"/>
      </p:grpSpPr>
      <p:sp>
        <p:nvSpPr>
          <p:cNvPr id="14" name="ATTESTIA">
            <a:extLst xmlns:a="http://schemas.openxmlformats.org/drawingml/2006/main">
              <a:ext uri="{FF2B5EF4-FFF2-40B4-BE49-F238E27FC236}">
                <a16:creationId xmlns:a16="http://schemas.microsoft.com/office/drawing/2014/main" id="{B0401633-6D17-4DD9-A54C-6BDD24CC7909}"/>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9C1D7"/>
                </a:solidFill>
                <a:latin typeface="Nimbus Sans"/>
                <a:ea typeface="Nimbus Sans"/>
                <a:cs typeface="Nimbus Sans"/>
              </a:defRPr>
            </a:pPr>
            <a:r>
              <a:rPr sz="1500" b="1">
                <a:solidFill>
                  <a:srgbClr val="B9C1D7"/>
                </a:solidFill>
                <a:latin typeface="Nimbus Sans"/>
                <a:ea typeface="Nimbus Sans"/>
                <a:cs typeface="Nimbus Sans"/>
              </a:rPr>
              <a:t>ATTESTIA</a:t>
            </a:r>
          </a:p>
        </p:txBody>
      </p:sp>
      <p:sp>
        <p:nvSpPr>
          <p:cNvPr id="2" name="05 / PRODUCT / HISTORY">
            <a:extLst xmlns:a="http://schemas.openxmlformats.org/drawingml/2006/main">
              <a:ext uri="{FF2B5EF4-FFF2-40B4-BE49-F238E27FC236}">
                <a16:creationId xmlns:a16="http://schemas.microsoft.com/office/drawing/2014/main" id="{1D15290F-B4DC-4758-91CD-69A5089F320F}"/>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9C1D7"/>
                </a:solidFill>
                <a:latin typeface="Nimbus Sans"/>
                <a:ea typeface="Nimbus Sans"/>
                <a:cs typeface="Nimbus Sans"/>
              </a:defRPr>
            </a:pPr>
            <a:r>
              <a:rPr sz="1050" b="0">
                <a:solidFill>
                  <a:srgbClr val="B9C1D7"/>
                </a:solidFill>
                <a:latin typeface="Nimbus Sans"/>
                <a:ea typeface="Nimbus Sans"/>
                <a:cs typeface="Nimbus Sans"/>
              </a:rPr>
              <a:t>05 / PRODUCT / HISTORY</a:t>
            </a:r>
          </a:p>
        </p:txBody>
      </p:sp>
      <p:sp>
        <p:nvSpPr>
          <p:cNvPr id="3" name="A work record stays useful&#10;when its status ca">
            <a:extLst xmlns:a="http://schemas.openxmlformats.org/drawingml/2006/main">
              <a:ext uri="{FF2B5EF4-FFF2-40B4-BE49-F238E27FC236}">
                <a16:creationId xmlns:a16="http://schemas.microsoft.com/office/drawing/2014/main" id="{F30F3FE2-8AA2-4AF0-AE17-839FC3DD51BB}"/>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A work record stays useful</a:t>
            </a:r>
          </a:p>
          <a:p xmlns:a="http://schemas.openxmlformats.org/drawingml/2006/main">
            <a:pPr>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when its status can change</a:t>
            </a:r>
          </a:p>
        </p:txBody>
      </p:sp>
      <p:sp>
        <p:nvSpPr>
          <p:cNvPr id="4" name="2">
            <a:extLst xmlns:a="http://schemas.openxmlformats.org/drawingml/2006/main">
              <a:ext uri="{FF2B5EF4-FFF2-40B4-BE49-F238E27FC236}">
                <a16:creationId xmlns:a16="http://schemas.microsoft.com/office/drawing/2014/main" id="{3EB03047-9E40-40E9-9862-723DBA73284E}"/>
              </a:ext>
            </a:extLst>
          </p:cNvPr>
          <p:cNvSpPr>
            <a:spLocks xmlns:a="http://schemas.openxmlformats.org/drawingml/2006/main" noGrp="1"/>
          </p:cNvSpPr>
          <p:nvPr/>
        </p:nvSpPr>
        <p:spPr>
          <a:xfrm xmlns:a="http://schemas.openxmlformats.org/drawingml/2006/main">
            <a:off x="666750" y="2286000"/>
            <a:ext cx="209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B8A8FF"/>
                </a:solidFill>
                <a:latin typeface="Nimbus Sans"/>
                <a:ea typeface="Nimbus Sans"/>
                <a:cs typeface="Nimbus Sans"/>
              </a:defRPr>
            </a:pPr>
            <a:r>
              <a:rPr sz="8250" b="1">
                <a:solidFill>
                  <a:srgbClr val="B8A8FF"/>
                </a:solidFill>
                <a:latin typeface="Nimbus Sans"/>
                <a:ea typeface="Nimbus Sans"/>
                <a:cs typeface="Nimbus Sans"/>
              </a:rPr>
              <a:t>2</a:t>
            </a:r>
          </a:p>
        </p:txBody>
      </p:sp>
      <p:sp>
        <p:nvSpPr>
          <p:cNvPr id="5" name="active claims">
            <a:extLst xmlns:a="http://schemas.openxmlformats.org/drawingml/2006/main">
              <a:ext uri="{FF2B5EF4-FFF2-40B4-BE49-F238E27FC236}">
                <a16:creationId xmlns:a16="http://schemas.microsoft.com/office/drawing/2014/main" id="{99B3CE23-53BE-4805-BADD-76C53312D1A0}"/>
              </a:ext>
            </a:extLst>
          </p:cNvPr>
          <p:cNvSpPr>
            <a:spLocks xmlns:a="http://schemas.openxmlformats.org/drawingml/2006/main" noGrp="1"/>
          </p:cNvSpPr>
          <p:nvPr/>
        </p:nvSpPr>
        <p:spPr>
          <a:xfrm xmlns:a="http://schemas.openxmlformats.org/drawingml/2006/main">
            <a:off x="685800" y="36004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Nimbus Sans"/>
                <a:ea typeface="Nimbus Sans"/>
                <a:cs typeface="Nimbus Sans"/>
              </a:defRPr>
            </a:pPr>
            <a:r>
              <a:rPr sz="2250" b="1">
                <a:solidFill>
                  <a:srgbClr val="FFFFFF"/>
                </a:solidFill>
                <a:latin typeface="Nimbus Sans"/>
                <a:ea typeface="Nimbus Sans"/>
                <a:cs typeface="Nimbus Sans"/>
              </a:rPr>
              <a:t>active claims</a:t>
            </a:r>
          </a:p>
        </p:txBody>
      </p:sp>
      <p:sp>
        <p:nvSpPr>
          <p:cNvPr id="6" name="1">
            <a:extLst xmlns:a="http://schemas.openxmlformats.org/drawingml/2006/main">
              <a:ext uri="{FF2B5EF4-FFF2-40B4-BE49-F238E27FC236}">
                <a16:creationId xmlns:a16="http://schemas.microsoft.com/office/drawing/2014/main" id="{A915C423-606B-4323-BB66-0AAC32E3F2D9}"/>
              </a:ext>
            </a:extLst>
          </p:cNvPr>
          <p:cNvSpPr>
            <a:spLocks xmlns:a="http://schemas.openxmlformats.org/drawingml/2006/main" noGrp="1"/>
          </p:cNvSpPr>
          <p:nvPr/>
        </p:nvSpPr>
        <p:spPr>
          <a:xfrm xmlns:a="http://schemas.openxmlformats.org/drawingml/2006/main">
            <a:off x="3905250" y="2286000"/>
            <a:ext cx="2095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FFFFFF"/>
                </a:solidFill>
                <a:latin typeface="Nimbus Sans"/>
                <a:ea typeface="Nimbus Sans"/>
                <a:cs typeface="Nimbus Sans"/>
              </a:defRPr>
            </a:pPr>
            <a:r>
              <a:rPr sz="8250" b="1">
                <a:solidFill>
                  <a:srgbClr val="FFFFFF"/>
                </a:solidFill>
                <a:latin typeface="Nimbus Sans"/>
                <a:ea typeface="Nimbus Sans"/>
                <a:cs typeface="Nimbus Sans"/>
              </a:rPr>
              <a:t>1</a:t>
            </a:r>
          </a:p>
        </p:txBody>
      </p:sp>
      <p:sp>
        <p:nvSpPr>
          <p:cNvPr id="7" name="active claim">
            <a:extLst xmlns:a="http://schemas.openxmlformats.org/drawingml/2006/main">
              <a:ext uri="{FF2B5EF4-FFF2-40B4-BE49-F238E27FC236}">
                <a16:creationId xmlns:a16="http://schemas.microsoft.com/office/drawing/2014/main" id="{545EA62F-A0EE-49A7-8F3D-0342691EF69A}"/>
              </a:ext>
            </a:extLst>
          </p:cNvPr>
          <p:cNvSpPr>
            <a:spLocks xmlns:a="http://schemas.openxmlformats.org/drawingml/2006/main" noGrp="1"/>
          </p:cNvSpPr>
          <p:nvPr/>
        </p:nvSpPr>
        <p:spPr>
          <a:xfrm xmlns:a="http://schemas.openxmlformats.org/drawingml/2006/main">
            <a:off x="3905250" y="36004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Nimbus Sans"/>
                <a:ea typeface="Nimbus Sans"/>
                <a:cs typeface="Nimbus Sans"/>
              </a:defRPr>
            </a:pPr>
            <a:r>
              <a:rPr sz="2250" b="1">
                <a:solidFill>
                  <a:srgbClr val="FFFFFF"/>
                </a:solidFill>
                <a:latin typeface="Nimbus Sans"/>
                <a:ea typeface="Nimbus Sans"/>
                <a:cs typeface="Nimbus Sans"/>
              </a:rPr>
              <a:t>active claim</a:t>
            </a:r>
          </a:p>
        </p:txBody>
      </p:sp>
      <p:sp>
        <p:nvSpPr>
          <p:cNvPr id="8" name="After one reviewer revokes a claim">
            <a:extLst xmlns:a="http://schemas.openxmlformats.org/drawingml/2006/main">
              <a:ext uri="{FF2B5EF4-FFF2-40B4-BE49-F238E27FC236}">
                <a16:creationId xmlns:a16="http://schemas.microsoft.com/office/drawing/2014/main" id="{D0550831-04C1-4A60-8082-2BF95B4FFB4F}"/>
              </a:ext>
            </a:extLst>
          </p:cNvPr>
          <p:cNvSpPr>
            <a:spLocks xmlns:a="http://schemas.openxmlformats.org/drawingml/2006/main" noGrp="1"/>
          </p:cNvSpPr>
          <p:nvPr/>
        </p:nvSpPr>
        <p:spPr>
          <a:xfrm xmlns:a="http://schemas.openxmlformats.org/drawingml/2006/main">
            <a:off x="685800" y="44767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9C1D7"/>
                </a:solidFill>
                <a:latin typeface="Nimbus Sans"/>
                <a:ea typeface="Nimbus Sans"/>
                <a:cs typeface="Nimbus Sans"/>
              </a:defRPr>
            </a:pPr>
            <a:r>
              <a:rPr sz="2025" b="0">
                <a:solidFill>
                  <a:srgbClr val="B9C1D7"/>
                </a:solidFill>
                <a:latin typeface="Nimbus Sans"/>
                <a:ea typeface="Nimbus Sans"/>
                <a:cs typeface="Nimbus Sans"/>
              </a:rPr>
              <a:t>After one reviewer revokes a claim</a:t>
            </a:r>
          </a:p>
        </p:txBody>
      </p:sp>
      <p:sp>
        <p:nvSpPr>
          <p:cNvPr id="9" name="History remains visible">
            <a:extLst xmlns:a="http://schemas.openxmlformats.org/drawingml/2006/main">
              <a:ext uri="{FF2B5EF4-FFF2-40B4-BE49-F238E27FC236}">
                <a16:creationId xmlns:a16="http://schemas.microsoft.com/office/drawing/2014/main" id="{973A8F3C-15A5-4B0E-8BCC-A295927F62CB}"/>
              </a:ext>
            </a:extLst>
          </p:cNvPr>
          <p:cNvSpPr>
            <a:spLocks xmlns:a="http://schemas.openxmlformats.org/drawingml/2006/main" noGrp="1"/>
          </p:cNvSpPr>
          <p:nvPr/>
        </p:nvSpPr>
        <p:spPr>
          <a:xfrm xmlns:a="http://schemas.openxmlformats.org/drawingml/2006/main">
            <a:off x="7239000" y="2505075"/>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Nimbus Sans"/>
                <a:ea typeface="Nimbus Sans"/>
                <a:cs typeface="Nimbus Sans"/>
              </a:defRPr>
            </a:pPr>
            <a:r>
              <a:rPr sz="2400" b="1">
                <a:solidFill>
                  <a:srgbClr val="FFFFFF"/>
                </a:solidFill>
                <a:latin typeface="Nimbus Sans"/>
                <a:ea typeface="Nimbus Sans"/>
                <a:cs typeface="Nimbus Sans"/>
              </a:rPr>
              <a:t>History remains visible</a:t>
            </a:r>
          </a:p>
        </p:txBody>
      </p:sp>
      <p:sp>
        <p:nvSpPr>
          <p:cNvPr id="10" name="Active counts update after processing. Revoke">
            <a:extLst xmlns:a="http://schemas.openxmlformats.org/drawingml/2006/main">
              <a:ext uri="{FF2B5EF4-FFF2-40B4-BE49-F238E27FC236}">
                <a16:creationId xmlns:a16="http://schemas.microsoft.com/office/drawing/2014/main" id="{BDC4B2D2-3485-4B41-BB34-80DF677AF085}"/>
              </a:ext>
            </a:extLst>
          </p:cNvPr>
          <p:cNvSpPr>
            <a:spLocks xmlns:a="http://schemas.openxmlformats.org/drawingml/2006/main" noGrp="1"/>
          </p:cNvSpPr>
          <p:nvPr/>
        </p:nvSpPr>
        <p:spPr>
          <a:xfrm xmlns:a="http://schemas.openxmlformats.org/drawingml/2006/main">
            <a:off x="7239000" y="3133725"/>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9C1D7"/>
                </a:solidFill>
                <a:latin typeface="Nimbus Sans"/>
                <a:ea typeface="Nimbus Sans"/>
                <a:cs typeface="Nimbus Sans"/>
              </a:defRPr>
            </a:pPr>
            <a:r>
              <a:rPr sz="2025" b="0">
                <a:solidFill>
                  <a:srgbClr val="B9C1D7"/>
                </a:solidFill>
                <a:latin typeface="Nimbus Sans"/>
                <a:ea typeface="Nimbus Sans"/>
                <a:cs typeface="Nimbus Sans"/>
              </a:rPr>
              <a:t>Active counts update after processing. Revoked claims remain inspectable.</a:t>
            </a:r>
          </a:p>
        </p:txBody>
      </p:sp>
      <p:sp>
        <p:nvSpPr>
          <p:cNvPr id="11" name="Explainable categories">
            <a:extLst xmlns:a="http://schemas.openxmlformats.org/drawingml/2006/main">
              <a:ext uri="{FF2B5EF4-FFF2-40B4-BE49-F238E27FC236}">
                <a16:creationId xmlns:a16="http://schemas.microsoft.com/office/drawing/2014/main" id="{3CB7EDBA-00E7-4BD1-BA48-3D1127A2207E}"/>
              </a:ext>
            </a:extLst>
          </p:cNvPr>
          <p:cNvSpPr>
            <a:spLocks xmlns:a="http://schemas.openxmlformats.org/drawingml/2006/main" noGrp="1"/>
          </p:cNvSpPr>
          <p:nvPr/>
        </p:nvSpPr>
        <p:spPr>
          <a:xfrm xmlns:a="http://schemas.openxmlformats.org/drawingml/2006/main">
            <a:off x="7239000" y="442912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8A8FF"/>
                </a:solidFill>
                <a:latin typeface="Nimbus Sans"/>
                <a:ea typeface="Nimbus Sans"/>
                <a:cs typeface="Nimbus Sans"/>
              </a:defRPr>
            </a:pPr>
            <a:r>
              <a:rPr sz="2325" b="1">
                <a:solidFill>
                  <a:srgbClr val="B8A8FF"/>
                </a:solidFill>
                <a:latin typeface="Nimbus Sans"/>
                <a:ea typeface="Nimbus Sans"/>
                <a:cs typeface="Nimbus Sans"/>
              </a:rPr>
              <a:t>Explainable categories</a:t>
            </a:r>
          </a:p>
        </p:txBody>
      </p:sp>
      <p:sp>
        <p:nvSpPr>
          <p:cNvPr id="12" name="Counts, evidence coverage and unique reviewer">
            <a:extLst xmlns:a="http://schemas.openxmlformats.org/drawingml/2006/main">
              <a:ext uri="{FF2B5EF4-FFF2-40B4-BE49-F238E27FC236}">
                <a16:creationId xmlns:a16="http://schemas.microsoft.com/office/drawing/2014/main" id="{00521B62-D7A6-4B7B-99FB-188443C0E732}"/>
              </a:ext>
            </a:extLst>
          </p:cNvPr>
          <p:cNvSpPr>
            <a:spLocks xmlns:a="http://schemas.openxmlformats.org/drawingml/2006/main" noGrp="1"/>
          </p:cNvSpPr>
          <p:nvPr/>
        </p:nvSpPr>
        <p:spPr>
          <a:xfrm xmlns:a="http://schemas.openxmlformats.org/drawingml/2006/main">
            <a:off x="7239000" y="4943475"/>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9C1D7"/>
                </a:solidFill>
                <a:latin typeface="Nimbus Sans"/>
                <a:ea typeface="Nimbus Sans"/>
                <a:cs typeface="Nimbus Sans"/>
              </a:defRPr>
            </a:pPr>
            <a:r>
              <a:rPr sz="1950" b="0">
                <a:solidFill>
                  <a:srgbClr val="B9C1D7"/>
                </a:solidFill>
                <a:latin typeface="Nimbus Sans"/>
                <a:ea typeface="Nimbus Sans"/>
                <a:cs typeface="Nimbus Sans"/>
              </a:rPr>
              <a:t>Counts, evidence coverage and unique reviewers.</a:t>
            </a:r>
          </a:p>
        </p:txBody>
      </p:sp>
      <p:sp>
        <p:nvSpPr>
          <p:cNvPr id="13" name="Illustrative example. Agent permissions in th">
            <a:extLst xmlns:a="http://schemas.openxmlformats.org/drawingml/2006/main">
              <a:ext uri="{FF2B5EF4-FFF2-40B4-BE49-F238E27FC236}">
                <a16:creationId xmlns:a16="http://schemas.microsoft.com/office/drawing/2014/main" id="{46CA1EF2-FD02-46BE-AFF2-58C50CBB8F32}"/>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9C1D7"/>
                </a:solidFill>
                <a:latin typeface="Nimbus Sans"/>
                <a:ea typeface="Nimbus Sans"/>
                <a:cs typeface="Nimbus Sans"/>
              </a:defRPr>
            </a:pPr>
            <a:r>
              <a:rPr sz="1200" b="0">
                <a:solidFill>
                  <a:srgbClr val="B9C1D7"/>
                </a:solidFill>
                <a:latin typeface="Nimbus Sans"/>
                <a:ea typeface="Nimbus Sans"/>
                <a:cs typeface="Nimbus Sans"/>
              </a:rPr>
              <a:t>Illustrative example. Agent permissions in the MVP are declarations, without enforcement.</a:t>
            </a:r>
          </a:p>
        </p:txBody>
      </p:sp>
    </p:spTree>
    <p:extLst>
      <p:ext uri="{BB962C8B-B14F-4D97-AF65-F5344CB8AC3E}">
        <p14:creationId xmlns:p14="http://schemas.microsoft.com/office/powerpoint/2010/main" val="4391066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TTESTIA">
            <a:extLst xmlns:a="http://schemas.openxmlformats.org/drawingml/2006/main">
              <a:ext uri="{FF2B5EF4-FFF2-40B4-BE49-F238E27FC236}">
                <a16:creationId xmlns:a16="http://schemas.microsoft.com/office/drawing/2014/main" id="{138F5A24-4D12-442B-8D51-293818D3C4EA}"/>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258EF"/>
                </a:solidFill>
                <a:latin typeface="Nimbus Sans"/>
                <a:ea typeface="Nimbus Sans"/>
                <a:cs typeface="Nimbus Sans"/>
              </a:defRPr>
            </a:pPr>
            <a:r>
              <a:rPr sz="1500" b="1">
                <a:solidFill>
                  <a:srgbClr val="7258EF"/>
                </a:solidFill>
                <a:latin typeface="Nimbus Sans"/>
                <a:ea typeface="Nimbus Sans"/>
                <a:cs typeface="Nimbus Sans"/>
              </a:rPr>
              <a:t>ATTESTIA</a:t>
            </a:r>
          </a:p>
        </p:txBody>
      </p:sp>
      <p:sp>
        <p:nvSpPr>
          <p:cNvPr id="2" name="06 / DIFFERENTIATION">
            <a:extLst xmlns:a="http://schemas.openxmlformats.org/drawingml/2006/main">
              <a:ext uri="{FF2B5EF4-FFF2-40B4-BE49-F238E27FC236}">
                <a16:creationId xmlns:a16="http://schemas.microsoft.com/office/drawing/2014/main" id="{79260B1A-8B0F-441C-A81B-6D9CD0EF4A73}"/>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B80"/>
                </a:solidFill>
                <a:latin typeface="Nimbus Sans"/>
                <a:ea typeface="Nimbus Sans"/>
                <a:cs typeface="Nimbus Sans"/>
              </a:defRPr>
            </a:pPr>
            <a:r>
              <a:rPr sz="1050" b="0">
                <a:solidFill>
                  <a:srgbClr val="626B80"/>
                </a:solidFill>
                <a:latin typeface="Nimbus Sans"/>
                <a:ea typeface="Nimbus Sans"/>
                <a:cs typeface="Nimbus Sans"/>
              </a:rPr>
              <a:t>06 / DIFFERENTIATION</a:t>
            </a:r>
          </a:p>
        </p:txBody>
      </p:sp>
      <p:sp>
        <p:nvSpPr>
          <p:cNvPr id="3" name="The potential advantage lies in&#10;the review wo">
            <a:extLst xmlns:a="http://schemas.openxmlformats.org/drawingml/2006/main">
              <a:ext uri="{FF2B5EF4-FFF2-40B4-BE49-F238E27FC236}">
                <a16:creationId xmlns:a16="http://schemas.microsoft.com/office/drawing/2014/main" id="{F04F2302-A6D2-4843-B8F4-8B317BB524DB}"/>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The potential advantage lies in</a:t>
            </a:r>
          </a:p>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the review workflow and its context</a:t>
            </a:r>
          </a:p>
        </p:txBody>
      </p:sp>
      <p:graphicFrame>
        <p:nvGraphicFramePr>
          <p:cNvPr id="11" name=""/>
          <p:cNvGraphicFramePr/>
          <p:nvPr/>
        </p:nvGraphicFramePr>
        <p:xfrm>
          <a:off xmlns:a="http://schemas.openxmlformats.org/drawingml/2006/main" x="609600" y="2324100"/>
          <a:ext xmlns:a="http://schemas.openxmlformats.org/drawingml/2006/main" cx="10972800" cy="2762250"/>
        </p:xfrm>
        <a:graphic xmlns:a="http://schemas.openxmlformats.org/drawingml/2006/main">
          <a:graphicData uri="http://schemas.openxmlformats.org/drawingml/2006/table">
            <a:tbl>
              <a:tblPr/>
              <a:tblGrid>
                <a:gridCol w="4286250"/>
                <a:gridCol w="6686550"/>
              </a:tblGrid>
              <a:tr h="552450">
                <a:tc>
                  <a:txBody>
                    <a:bodyPr/>
                    <a:lstStyle/>
                    <a:p>
                      <a:r>
                        <a:rPr sz="1650" b="1">
                          <a:solidFill>
                            <a:srgbClr val="FFFFFF"/>
                          </a:solidFill>
                          <a:latin typeface="Nimbus Sans"/>
                          <a:ea typeface="Nimbus Sans"/>
                          <a:cs typeface="Nimbus Sans"/>
                        </a:rPr>
                        <a:t>Ecosystem layer</a:t>
                      </a:r>
                    </a:p>
                  </a:txBody>
                  <a:tcPr marL="91440" marR="91440" marT="45720" marB="45720">
                    <a:solidFill>
                      <a:srgbClr val="10182F"/>
                    </a:solidFill>
                  </a:tcPr>
                </a:tc>
                <a:tc>
                  <a:txBody>
                    <a:bodyPr/>
                    <a:lstStyle/>
                    <a:p>
                      <a:r>
                        <a:rPr sz="1650" b="1">
                          <a:solidFill>
                            <a:srgbClr val="FFFFFF"/>
                          </a:solidFill>
                          <a:latin typeface="Nimbus Sans"/>
                          <a:ea typeface="Nimbus Sans"/>
                          <a:cs typeface="Nimbus Sans"/>
                        </a:rPr>
                        <a:t>Attestia’s proposed focus</a:t>
                      </a:r>
                    </a:p>
                  </a:txBody>
                  <a:tcPr marL="91440" marR="91440" marT="45720" marB="45720">
                    <a:solidFill>
                      <a:srgbClr val="10182F"/>
                    </a:solidFill>
                  </a:tcPr>
                </a:tc>
              </a:tr>
              <a:tr h="552450">
                <a:tc>
                  <a:txBody>
                    <a:bodyPr/>
                    <a:lstStyle/>
                    <a:p>
                      <a:r>
                        <a:rPr sz="1800" b="1">
                          <a:solidFill>
                            <a:srgbClr val="10182F"/>
                          </a:solidFill>
                          <a:latin typeface="Nimbus Sans"/>
                          <a:ea typeface="Nimbus Sans"/>
                          <a:cs typeface="Nimbus Sans"/>
                        </a:rPr>
                        <a:t>Generic attestation infrastructure</a:t>
                      </a:r>
                    </a:p>
                  </a:txBody>
                  <a:tcPr marL="91440" marR="91440" marT="45720" marB="45720">
                    <a:solidFill>
                      <a:srgbClr val="FFFFFF"/>
                    </a:solidFill>
                  </a:tcPr>
                </a:tc>
                <a:tc>
                  <a:txBody>
                    <a:bodyPr/>
                    <a:lstStyle/>
                    <a:p>
                      <a:r>
                        <a:rPr sz="1800" b="0">
                          <a:solidFill>
                            <a:srgbClr val="10182F"/>
                          </a:solidFill>
                          <a:latin typeface="Nimbus Sans"/>
                          <a:ea typeface="Nimbus Sans"/>
                          <a:cs typeface="Nimbus Sans"/>
                        </a:rPr>
                        <a:t>Contribution-specific review coordination</a:t>
                      </a:r>
                    </a:p>
                  </a:txBody>
                  <a:tcPr marL="91440" marR="91440" marT="45720" marB="45720">
                    <a:solidFill>
                      <a:srgbClr val="FFFFFF"/>
                    </a:solidFill>
                  </a:tcPr>
                </a:tc>
              </a:tr>
              <a:tr h="552450">
                <a:tc>
                  <a:txBody>
                    <a:bodyPr/>
                    <a:lstStyle/>
                    <a:p>
                      <a:r>
                        <a:rPr sz="1800" b="1">
                          <a:solidFill>
                            <a:srgbClr val="10182F"/>
                          </a:solidFill>
                          <a:latin typeface="Nimbus Sans"/>
                          <a:ea typeface="Nimbus Sans"/>
                          <a:cs typeface="Nimbus Sans"/>
                        </a:rPr>
                        <a:t>Personhood signals</a:t>
                      </a:r>
                    </a:p>
                  </a:txBody>
                  <a:tcPr marL="91440" marR="91440" marT="45720" marB="45720">
                    <a:solidFill>
                      <a:srgbClr val="F5F6FA"/>
                    </a:solidFill>
                  </a:tcPr>
                </a:tc>
                <a:tc>
                  <a:txBody>
                    <a:bodyPr/>
                    <a:lstStyle/>
                    <a:p>
                      <a:r>
                        <a:rPr sz="1800" b="0">
                          <a:solidFill>
                            <a:srgbClr val="10182F"/>
                          </a:solidFill>
                          <a:latin typeface="Nimbus Sans"/>
                          <a:ea typeface="Nimbus Sans"/>
                          <a:cs typeface="Nimbus Sans"/>
                        </a:rPr>
                        <a:t>Evidence about completed work</a:t>
                      </a:r>
                    </a:p>
                  </a:txBody>
                  <a:tcPr marL="91440" marR="91440" marT="45720" marB="45720">
                    <a:solidFill>
                      <a:srgbClr val="F5F6FA"/>
                    </a:solidFill>
                  </a:tcPr>
                </a:tc>
              </a:tr>
              <a:tr h="552450">
                <a:tc>
                  <a:txBody>
                    <a:bodyPr/>
                    <a:lstStyle/>
                    <a:p>
                      <a:r>
                        <a:rPr sz="1800" b="1">
                          <a:solidFill>
                            <a:srgbClr val="10182F"/>
                          </a:solidFill>
                          <a:latin typeface="Nimbus Sans"/>
                          <a:ea typeface="Nimbus Sans"/>
                          <a:cs typeface="Nimbus Sans"/>
                        </a:rPr>
                        <a:t>Reputation systems</a:t>
                      </a:r>
                    </a:p>
                  </a:txBody>
                  <a:tcPr marL="91440" marR="91440" marT="45720" marB="45720">
                    <a:solidFill>
                      <a:srgbClr val="FFFFFF"/>
                    </a:solidFill>
                  </a:tcPr>
                </a:tc>
                <a:tc>
                  <a:txBody>
                    <a:bodyPr/>
                    <a:lstStyle/>
                    <a:p>
                      <a:r>
                        <a:rPr sz="1800" b="0">
                          <a:solidFill>
                            <a:srgbClr val="10182F"/>
                          </a:solidFill>
                          <a:latin typeface="Nimbus Sans"/>
                          <a:ea typeface="Nimbus Sans"/>
                          <a:cs typeface="Nimbus Sans"/>
                        </a:rPr>
                        <a:t>Explicit, claim-specific reviewer decisions</a:t>
                      </a:r>
                    </a:p>
                  </a:txBody>
                  <a:tcPr marL="91440" marR="91440" marT="45720" marB="45720">
                    <a:solidFill>
                      <a:srgbClr val="FFFFFF"/>
                    </a:solidFill>
                  </a:tcPr>
                </a:tc>
              </a:tr>
              <a:tr h="552450">
                <a:tc>
                  <a:txBody>
                    <a:bodyPr/>
                    <a:lstStyle/>
                    <a:p>
                      <a:r>
                        <a:rPr sz="1800" b="1">
                          <a:solidFill>
                            <a:srgbClr val="10182F"/>
                          </a:solidFill>
                          <a:latin typeface="Nimbus Sans"/>
                          <a:ea typeface="Nimbus Sans"/>
                          <a:cs typeface="Nimbus Sans"/>
                        </a:rPr>
                        <a:t>Agent identity standards</a:t>
                      </a:r>
                    </a:p>
                  </a:txBody>
                  <a:tcPr marL="91440" marR="91440" marT="45720" marB="45720">
                    <a:solidFill>
                      <a:srgbClr val="F5F6FA"/>
                    </a:solidFill>
                  </a:tcPr>
                </a:tc>
                <a:tc>
                  <a:txBody>
                    <a:bodyPr/>
                    <a:lstStyle/>
                    <a:p>
                      <a:r>
                        <a:rPr sz="1800" b="0">
                          <a:solidFill>
                            <a:srgbClr val="10182F"/>
                          </a:solidFill>
                          <a:latin typeface="Nimbus Sans"/>
                          <a:ea typeface="Nimbus Sans"/>
                          <a:cs typeface="Nimbus Sans"/>
                        </a:rPr>
                        <a:t>Linked work and provenance</a:t>
                      </a:r>
                    </a:p>
                  </a:txBody>
                  <a:tcPr marL="91440" marR="91440" marT="45720" marB="45720">
                    <a:solidFill>
                      <a:srgbClr val="F5F6FA"/>
                    </a:solidFill>
                  </a:tcPr>
                </a:tc>
              </a:tr>
            </a:tbl>
          </a:graphicData>
        </a:graphic>
      </p:graphicFrame>
      <p:sp>
        <p:nvSpPr>
          <p:cNvPr id="5" name="Defensibility to prove">
            <a:extLst xmlns:a="http://schemas.openxmlformats.org/drawingml/2006/main">
              <a:ext uri="{FF2B5EF4-FFF2-40B4-BE49-F238E27FC236}">
                <a16:creationId xmlns:a16="http://schemas.microsoft.com/office/drawing/2014/main" id="{F7A225CB-6244-43FE-B6A9-4AAB148DE96E}"/>
              </a:ext>
            </a:extLst>
          </p:cNvPr>
          <p:cNvSpPr>
            <a:spLocks xmlns:a="http://schemas.openxmlformats.org/drawingml/2006/main" noGrp="1"/>
          </p:cNvSpPr>
          <p:nvPr/>
        </p:nvSpPr>
        <p:spPr>
          <a:xfrm xmlns:a="http://schemas.openxmlformats.org/drawingml/2006/main">
            <a:off x="609600" y="53340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258EF"/>
                </a:solidFill>
                <a:latin typeface="Nimbus Sans"/>
                <a:ea typeface="Nimbus Sans"/>
                <a:cs typeface="Nimbus Sans"/>
              </a:defRPr>
            </a:pPr>
            <a:r>
              <a:rPr sz="2025" b="1">
                <a:solidFill>
                  <a:srgbClr val="7258EF"/>
                </a:solidFill>
                <a:latin typeface="Nimbus Sans"/>
                <a:ea typeface="Nimbus Sans"/>
                <a:cs typeface="Nimbus Sans"/>
              </a:rPr>
              <a:t>Defensibility to prove</a:t>
            </a:r>
          </a:p>
        </p:txBody>
      </p:sp>
      <p:sp>
        <p:nvSpPr>
          <p:cNvPr id="6" name="Repeat use, reviewer relationships, rubric hi">
            <a:extLst xmlns:a="http://schemas.openxmlformats.org/drawingml/2006/main">
              <a:ext uri="{FF2B5EF4-FFF2-40B4-BE49-F238E27FC236}">
                <a16:creationId xmlns:a16="http://schemas.microsoft.com/office/drawing/2014/main" id="{346D8904-7A62-415A-9E30-4ECD9F928D05}"/>
              </a:ext>
            </a:extLst>
          </p:cNvPr>
          <p:cNvSpPr>
            <a:spLocks xmlns:a="http://schemas.openxmlformats.org/drawingml/2006/main" noGrp="1"/>
          </p:cNvSpPr>
          <p:nvPr/>
        </p:nvSpPr>
        <p:spPr>
          <a:xfrm xmlns:a="http://schemas.openxmlformats.org/drawingml/2006/main">
            <a:off x="4476750" y="53340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B80"/>
                </a:solidFill>
                <a:latin typeface="Nimbus Sans"/>
                <a:ea typeface="Nimbus Sans"/>
                <a:cs typeface="Nimbus Sans"/>
              </a:defRPr>
            </a:pPr>
            <a:r>
              <a:rPr sz="1950" b="0">
                <a:solidFill>
                  <a:srgbClr val="626B80"/>
                </a:solidFill>
                <a:latin typeface="Nimbus Sans"/>
                <a:ea typeface="Nimbus Sans"/>
                <a:cs typeface="Nimbus Sans"/>
              </a:rPr>
              <a:t>Repeat use, reviewer relationships, rubric history and integrations.</a:t>
            </a:r>
          </a:p>
        </p:txBody>
      </p:sp>
      <p:sp>
        <p:nvSpPr>
          <p:cNvPr id="7" name="Custom MVP registry. EAS integration remains ">
            <a:extLst xmlns:a="http://schemas.openxmlformats.org/drawingml/2006/main">
              <a:ext uri="{FF2B5EF4-FFF2-40B4-BE49-F238E27FC236}">
                <a16:creationId xmlns:a16="http://schemas.microsoft.com/office/drawing/2014/main" id="{0B60B737-1E5D-49D9-BEB8-6733AC9B4A86}"/>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B80"/>
                </a:solidFill>
                <a:latin typeface="Nimbus Sans"/>
                <a:ea typeface="Nimbus Sans"/>
                <a:cs typeface="Nimbus Sans"/>
              </a:defRPr>
            </a:pPr>
            <a:r>
              <a:rPr sz="1200" b="0">
                <a:solidFill>
                  <a:srgbClr val="626B80"/>
                </a:solidFill>
                <a:latin typeface="Nimbus Sans"/>
                <a:ea typeface="Nimbus Sans"/>
                <a:cs typeface="Nimbus Sans"/>
              </a:rPr>
              <a:t>Custom MVP registry. EAS integration remains an option. Network effects are unproven.</a:t>
            </a:r>
          </a:p>
        </p:txBody>
      </p:sp>
    </p:spTree>
    <p:extLst>
      <p:ext uri="{BB962C8B-B14F-4D97-AF65-F5344CB8AC3E}">
        <p14:creationId xmlns:p14="http://schemas.microsoft.com/office/powerpoint/2010/main" val="17870711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TTESTIA">
            <a:extLst xmlns:a="http://schemas.openxmlformats.org/drawingml/2006/main">
              <a:ext uri="{FF2B5EF4-FFF2-40B4-BE49-F238E27FC236}">
                <a16:creationId xmlns:a16="http://schemas.microsoft.com/office/drawing/2014/main" id="{AC534F31-5661-4B2C-8D51-CC3A9E118D66}"/>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258EF"/>
                </a:solidFill>
                <a:latin typeface="Nimbus Sans"/>
                <a:ea typeface="Nimbus Sans"/>
                <a:cs typeface="Nimbus Sans"/>
              </a:defRPr>
            </a:pPr>
            <a:r>
              <a:rPr sz="1500" b="1">
                <a:solidFill>
                  <a:srgbClr val="7258EF"/>
                </a:solidFill>
                <a:latin typeface="Nimbus Sans"/>
                <a:ea typeface="Nimbus Sans"/>
                <a:cs typeface="Nimbus Sans"/>
              </a:rPr>
              <a:t>ATTESTIA</a:t>
            </a:r>
          </a:p>
        </p:txBody>
      </p:sp>
      <p:sp>
        <p:nvSpPr>
          <p:cNvPr id="2" name="07 / MARKET">
            <a:extLst xmlns:a="http://schemas.openxmlformats.org/drawingml/2006/main">
              <a:ext uri="{FF2B5EF4-FFF2-40B4-BE49-F238E27FC236}">
                <a16:creationId xmlns:a16="http://schemas.microsoft.com/office/drawing/2014/main" id="{EECF1272-0C4A-4D16-8CCE-6AE563F03330}"/>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B80"/>
                </a:solidFill>
                <a:latin typeface="Nimbus Sans"/>
                <a:ea typeface="Nimbus Sans"/>
                <a:cs typeface="Nimbus Sans"/>
              </a:defRPr>
            </a:pPr>
            <a:r>
              <a:rPr sz="1050" b="0">
                <a:solidFill>
                  <a:srgbClr val="626B80"/>
                </a:solidFill>
                <a:latin typeface="Nimbus Sans"/>
                <a:ea typeface="Nimbus Sans"/>
                <a:cs typeface="Nimbus Sans"/>
              </a:rPr>
              <a:t>07 / MARKET</a:t>
            </a:r>
          </a:p>
        </p:txBody>
      </p:sp>
      <p:sp>
        <p:nvSpPr>
          <p:cNvPr id="3" name="Size the market around organizations&#10;that wil">
            <a:extLst xmlns:a="http://schemas.openxmlformats.org/drawingml/2006/main">
              <a:ext uri="{FF2B5EF4-FFF2-40B4-BE49-F238E27FC236}">
                <a16:creationId xmlns:a16="http://schemas.microsoft.com/office/drawing/2014/main" id="{2218A4EB-5C26-43A5-A4DB-C8F680E1DCD7}"/>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Size the market around organizations</a:t>
            </a:r>
          </a:p>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that will pay to verify work</a:t>
            </a:r>
          </a:p>
        </p:txBody>
      </p:sp>
      <p:sp>
        <p:nvSpPr>
          <p:cNvPr id="4" name="BEACHHEAD">
            <a:extLst xmlns:a="http://schemas.openxmlformats.org/drawingml/2006/main">
              <a:ext uri="{FF2B5EF4-FFF2-40B4-BE49-F238E27FC236}">
                <a16:creationId xmlns:a16="http://schemas.microsoft.com/office/drawing/2014/main" id="{C079CB95-5DC5-49C4-8138-F0DC3FC5F0CD}"/>
              </a:ext>
            </a:extLst>
          </p:cNvPr>
          <p:cNvSpPr>
            <a:spLocks xmlns:a="http://schemas.openxmlformats.org/drawingml/2006/main" noGrp="1"/>
          </p:cNvSpPr>
          <p:nvPr/>
        </p:nvSpPr>
        <p:spPr>
          <a:xfrm xmlns:a="http://schemas.openxmlformats.org/drawingml/2006/main">
            <a:off x="609600" y="2352675"/>
            <a:ext cx="228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258EF"/>
                </a:solidFill>
                <a:latin typeface="Nimbus Sans"/>
                <a:ea typeface="Nimbus Sans"/>
                <a:cs typeface="Nimbus Sans"/>
              </a:defRPr>
            </a:pPr>
            <a:r>
              <a:rPr sz="1500" b="1">
                <a:solidFill>
                  <a:srgbClr val="7258EF"/>
                </a:solidFill>
                <a:latin typeface="Nimbus Sans"/>
                <a:ea typeface="Nimbus Sans"/>
                <a:cs typeface="Nimbus Sans"/>
              </a:rPr>
              <a:t>BEACHHEAD</a:t>
            </a:r>
          </a:p>
        </p:txBody>
      </p:sp>
      <p:sp>
        <p:nvSpPr>
          <p:cNvPr id="5" name="DAOs and hackathon operators&#10;with recurring r">
            <a:extLst xmlns:a="http://schemas.openxmlformats.org/drawingml/2006/main">
              <a:ext uri="{FF2B5EF4-FFF2-40B4-BE49-F238E27FC236}">
                <a16:creationId xmlns:a16="http://schemas.microsoft.com/office/drawing/2014/main" id="{F3A916A0-1553-41F7-AD37-A80A0AE082E3}"/>
              </a:ext>
            </a:extLst>
          </p:cNvPr>
          <p:cNvSpPr>
            <a:spLocks xmlns:a="http://schemas.openxmlformats.org/drawingml/2006/main" noGrp="1"/>
          </p:cNvSpPr>
          <p:nvPr/>
        </p:nvSpPr>
        <p:spPr>
          <a:xfrm xmlns:a="http://schemas.openxmlformats.org/drawingml/2006/main">
            <a:off x="609600" y="2790825"/>
            <a:ext cx="5048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182F"/>
                </a:solidFill>
                <a:latin typeface="Nimbus Sans"/>
                <a:ea typeface="Nimbus Sans"/>
                <a:cs typeface="Nimbus Sans"/>
              </a:defRPr>
            </a:pPr>
            <a:r>
              <a:rPr sz="2475" b="1">
                <a:solidFill>
                  <a:srgbClr val="10182F"/>
                </a:solidFill>
                <a:latin typeface="Nimbus Sans"/>
                <a:ea typeface="Nimbus Sans"/>
                <a:cs typeface="Nimbus Sans"/>
              </a:rPr>
              <a:t>DAOs and hackathon operators</a:t>
            </a:r>
          </a:p>
          <a:p xmlns:a="http://schemas.openxmlformats.org/drawingml/2006/main">
            <a:pPr>
              <a:defRPr sz="2475" b="1">
                <a:solidFill>
                  <a:srgbClr val="10182F"/>
                </a:solidFill>
                <a:latin typeface="Nimbus Sans"/>
                <a:ea typeface="Nimbus Sans"/>
                <a:cs typeface="Nimbus Sans"/>
              </a:defRPr>
            </a:pPr>
            <a:r>
              <a:rPr sz="2475" b="1">
                <a:solidFill>
                  <a:srgbClr val="10182F"/>
                </a:solidFill>
                <a:latin typeface="Nimbus Sans"/>
                <a:ea typeface="Nimbus Sans"/>
                <a:cs typeface="Nimbus Sans"/>
              </a:rPr>
              <a:t>with recurring review workflows</a:t>
            </a:r>
          </a:p>
        </p:txBody>
      </p:sp>
      <p:sp>
        <p:nvSpPr>
          <p:cNvPr id="6" name="Expansion hypotheses">
            <a:extLst xmlns:a="http://schemas.openxmlformats.org/drawingml/2006/main">
              <a:ext uri="{FF2B5EF4-FFF2-40B4-BE49-F238E27FC236}">
                <a16:creationId xmlns:a16="http://schemas.microsoft.com/office/drawing/2014/main" id="{60C009C9-07CA-461F-9F01-E9A72F50B7E9}"/>
              </a:ext>
            </a:extLst>
          </p:cNvPr>
          <p:cNvSpPr>
            <a:spLocks xmlns:a="http://schemas.openxmlformats.org/drawingml/2006/main" noGrp="1"/>
          </p:cNvSpPr>
          <p:nvPr/>
        </p:nvSpPr>
        <p:spPr>
          <a:xfrm xmlns:a="http://schemas.openxmlformats.org/drawingml/2006/main">
            <a:off x="609600" y="42957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182F"/>
                </a:solidFill>
                <a:latin typeface="Nimbus Sans"/>
                <a:ea typeface="Nimbus Sans"/>
                <a:cs typeface="Nimbus Sans"/>
              </a:defRPr>
            </a:pPr>
            <a:r>
              <a:rPr sz="2025" b="1">
                <a:solidFill>
                  <a:srgbClr val="10182F"/>
                </a:solidFill>
                <a:latin typeface="Nimbus Sans"/>
                <a:ea typeface="Nimbus Sans"/>
                <a:cs typeface="Nimbus Sans"/>
              </a:rPr>
              <a:t>Expansion hypotheses</a:t>
            </a:r>
          </a:p>
        </p:txBody>
      </p:sp>
      <p:sp>
        <p:nvSpPr>
          <p:cNvPr id="7" name="Grant programs, open-source communities and v">
            <a:extLst xmlns:a="http://schemas.openxmlformats.org/drawingml/2006/main">
              <a:ext uri="{FF2B5EF4-FFF2-40B4-BE49-F238E27FC236}">
                <a16:creationId xmlns:a16="http://schemas.microsoft.com/office/drawing/2014/main" id="{DE75718E-4990-4EAF-9CDE-B41E0499FE09}"/>
              </a:ext>
            </a:extLst>
          </p:cNvPr>
          <p:cNvSpPr>
            <a:spLocks xmlns:a="http://schemas.openxmlformats.org/drawingml/2006/main" noGrp="1"/>
          </p:cNvSpPr>
          <p:nvPr/>
        </p:nvSpPr>
        <p:spPr>
          <a:xfrm xmlns:a="http://schemas.openxmlformats.org/drawingml/2006/main">
            <a:off x="609600" y="4829175"/>
            <a:ext cx="4857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26B80"/>
                </a:solidFill>
                <a:latin typeface="Nimbus Sans"/>
                <a:ea typeface="Nimbus Sans"/>
                <a:cs typeface="Nimbus Sans"/>
              </a:defRPr>
            </a:pPr>
            <a:r>
              <a:rPr sz="1950" b="0">
                <a:solidFill>
                  <a:srgbClr val="626B80"/>
                </a:solidFill>
                <a:latin typeface="Nimbus Sans"/>
                <a:ea typeface="Nimbus Sans"/>
                <a:cs typeface="Nimbus Sans"/>
              </a:rPr>
              <a:t>Grant programs, open-source communities and verification API consumers.</a:t>
            </a:r>
          </a:p>
        </p:txBody>
      </p:sp>
      <p:graphicFrame>
        <p:nvGraphicFramePr>
          <p:cNvPr id="18" name=""/>
          <p:cNvGraphicFramePr/>
          <p:nvPr/>
        </p:nvGraphicFramePr>
        <p:xfrm>
          <a:off xmlns:a="http://schemas.openxmlformats.org/drawingml/2006/main" x="6057900" y="2343150"/>
          <a:ext xmlns:a="http://schemas.openxmlformats.org/drawingml/2006/main" cx="5524500" cy="2771775"/>
        </p:xfrm>
        <a:graphic xmlns:a="http://schemas.openxmlformats.org/drawingml/2006/main">
          <a:graphicData uri="http://schemas.openxmlformats.org/drawingml/2006/table">
            <a:tbl>
              <a:tblPr/>
              <a:tblGrid>
                <a:gridCol w="1190625"/>
                <a:gridCol w="4333875"/>
              </a:tblGrid>
              <a:tr h="692944">
                <a:tc>
                  <a:txBody>
                    <a:bodyPr/>
                    <a:lstStyle/>
                    <a:p>
                      <a:r>
                        <a:rPr sz="1500" b="1">
                          <a:solidFill>
                            <a:srgbClr val="FFFFFF"/>
                          </a:solidFill>
                          <a:latin typeface="Nimbus Sans"/>
                          <a:ea typeface="Nimbus Sans"/>
                          <a:cs typeface="Nimbus Sans"/>
                        </a:rPr>
                        <a:t>Measure</a:t>
                      </a:r>
                    </a:p>
                  </a:txBody>
                  <a:tcPr marL="91440" marR="91440" marT="45720" marB="45720">
                    <a:solidFill>
                      <a:srgbClr val="10182F"/>
                    </a:solidFill>
                  </a:tcPr>
                </a:tc>
                <a:tc>
                  <a:txBody>
                    <a:bodyPr/>
                    <a:lstStyle/>
                    <a:p>
                      <a:r>
                        <a:rPr sz="1500" b="1">
                          <a:solidFill>
                            <a:srgbClr val="FFFFFF"/>
                          </a:solidFill>
                          <a:latin typeface="Nimbus Sans"/>
                          <a:ea typeface="Nimbus Sans"/>
                          <a:cs typeface="Nimbus Sans"/>
                        </a:rPr>
                        <a:t>Bottom-up input</a:t>
                      </a:r>
                    </a:p>
                  </a:txBody>
                  <a:tcPr marL="91440" marR="91440" marT="45720" marB="45720">
                    <a:solidFill>
                      <a:srgbClr val="10182F"/>
                    </a:solidFill>
                  </a:tcPr>
                </a:tc>
              </a:tr>
              <a:tr h="692944">
                <a:tc>
                  <a:txBody>
                    <a:bodyPr/>
                    <a:lstStyle/>
                    <a:p>
                      <a:r>
                        <a:rPr sz="1650" b="1">
                          <a:solidFill>
                            <a:srgbClr val="10182F"/>
                          </a:solidFill>
                          <a:latin typeface="Nimbus Sans"/>
                          <a:ea typeface="Nimbus Sans"/>
                          <a:cs typeface="Nimbus Sans"/>
                        </a:rPr>
                        <a:t>TAM</a:t>
                      </a:r>
                    </a:p>
                  </a:txBody>
                  <a:tcPr marL="91440" marR="91440" marT="45720" marB="45720">
                    <a:solidFill>
                      <a:srgbClr val="FFFFFF"/>
                    </a:solidFill>
                  </a:tcPr>
                </a:tc>
                <a:tc>
                  <a:txBody>
                    <a:bodyPr/>
                    <a:lstStyle/>
                    <a:p>
                      <a:r>
                        <a:rPr sz="1650" b="0">
                          <a:solidFill>
                            <a:srgbClr val="10182F"/>
                          </a:solidFill>
                          <a:latin typeface="Nimbus Sans"/>
                          <a:ea typeface="Nimbus Sans"/>
                          <a:cs typeface="Nimbus Sans"/>
                        </a:rPr>
                        <a:t>Relevant buyers × annual spend</a:t>
                      </a:r>
                    </a:p>
                  </a:txBody>
                  <a:tcPr marL="91440" marR="91440" marT="45720" marB="45720">
                    <a:solidFill>
                      <a:srgbClr val="FFFFFF"/>
                    </a:solidFill>
                  </a:tcPr>
                </a:tc>
              </a:tr>
              <a:tr h="692944">
                <a:tc>
                  <a:txBody>
                    <a:bodyPr/>
                    <a:lstStyle/>
                    <a:p>
                      <a:r>
                        <a:rPr sz="1650" b="1">
                          <a:solidFill>
                            <a:srgbClr val="10182F"/>
                          </a:solidFill>
                          <a:latin typeface="Nimbus Sans"/>
                          <a:ea typeface="Nimbus Sans"/>
                          <a:cs typeface="Nimbus Sans"/>
                        </a:rPr>
                        <a:t>SAM</a:t>
                      </a:r>
                    </a:p>
                  </a:txBody>
                  <a:tcPr marL="91440" marR="91440" marT="45720" marB="45720">
                    <a:solidFill>
                      <a:srgbClr val="F5F6FA"/>
                    </a:solidFill>
                  </a:tcPr>
                </a:tc>
                <a:tc>
                  <a:txBody>
                    <a:bodyPr/>
                    <a:lstStyle/>
                    <a:p>
                      <a:r>
                        <a:rPr sz="1650" b="0">
                          <a:solidFill>
                            <a:srgbClr val="10182F"/>
                          </a:solidFill>
                          <a:latin typeface="Nimbus Sans"/>
                          <a:ea typeface="Nimbus Sans"/>
                          <a:cs typeface="Nimbus Sans"/>
                        </a:rPr>
                        <a:t>Supported buyer subset × spend</a:t>
                      </a:r>
                    </a:p>
                  </a:txBody>
                  <a:tcPr marL="91440" marR="91440" marT="45720" marB="45720">
                    <a:solidFill>
                      <a:srgbClr val="F5F6FA"/>
                    </a:solidFill>
                  </a:tcPr>
                </a:tc>
              </a:tr>
              <a:tr h="692944">
                <a:tc>
                  <a:txBody>
                    <a:bodyPr/>
                    <a:lstStyle/>
                    <a:p>
                      <a:r>
                        <a:rPr sz="1650" b="1">
                          <a:solidFill>
                            <a:srgbClr val="10182F"/>
                          </a:solidFill>
                          <a:latin typeface="Nimbus Sans"/>
                          <a:ea typeface="Nimbus Sans"/>
                          <a:cs typeface="Nimbus Sans"/>
                        </a:rPr>
                        <a:t>SOM</a:t>
                      </a:r>
                    </a:p>
                  </a:txBody>
                  <a:tcPr marL="91440" marR="91440" marT="45720" marB="45720">
                    <a:solidFill>
                      <a:srgbClr val="FFFFFF"/>
                    </a:solidFill>
                  </a:tcPr>
                </a:tc>
                <a:tc>
                  <a:txBody>
                    <a:bodyPr/>
                    <a:lstStyle/>
                    <a:p>
                      <a:r>
                        <a:rPr sz="1650" b="0">
                          <a:solidFill>
                            <a:srgbClr val="10182F"/>
                          </a:solidFill>
                          <a:latin typeface="Nimbus Sans"/>
                          <a:ea typeface="Nimbus Sans"/>
                          <a:cs typeface="Nimbus Sans"/>
                        </a:rPr>
                        <a:t>Reachable, convertible buyers</a:t>
                      </a:r>
                    </a:p>
                    <a:p>
                      <a:r>
                        <a:rPr sz="1650" b="0">
                          <a:solidFill>
                            <a:srgbClr val="10182F"/>
                          </a:solidFill>
                          <a:latin typeface="Nimbus Sans"/>
                          <a:ea typeface="Nimbus Sans"/>
                          <a:cs typeface="Nimbus Sans"/>
                        </a:rPr>
                        <a:t>within a stated period × spend</a:t>
                      </a:r>
                    </a:p>
                  </a:txBody>
                  <a:tcPr marL="91440" marR="91440" marT="45720" marB="45720">
                    <a:solidFill>
                      <a:srgbClr val="FFFFFF"/>
                    </a:solidFill>
                  </a:tcPr>
                </a:tc>
              </a:tr>
            </a:tbl>
          </a:graphicData>
        </a:graphic>
      </p:graphicFrame>
      <p:sp>
        <p:nvSpPr>
          <p:cNvPr id="9" name="Market size: research required">
            <a:extLst xmlns:a="http://schemas.openxmlformats.org/drawingml/2006/main">
              <a:ext uri="{FF2B5EF4-FFF2-40B4-BE49-F238E27FC236}">
                <a16:creationId xmlns:a16="http://schemas.microsoft.com/office/drawing/2014/main" id="{B9CE301D-2FC4-4A24-9EAC-6C6F9E7BE709}"/>
              </a:ext>
            </a:extLst>
          </p:cNvPr>
          <p:cNvSpPr>
            <a:spLocks xmlns:a="http://schemas.openxmlformats.org/drawingml/2006/main" noGrp="1"/>
          </p:cNvSpPr>
          <p:nvPr/>
        </p:nvSpPr>
        <p:spPr>
          <a:xfrm xmlns:a="http://schemas.openxmlformats.org/drawingml/2006/main">
            <a:off x="6057900" y="5372100"/>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258EF"/>
                </a:solidFill>
                <a:latin typeface="Nimbus Sans"/>
                <a:ea typeface="Nimbus Sans"/>
                <a:cs typeface="Nimbus Sans"/>
              </a:defRPr>
            </a:pPr>
            <a:r>
              <a:rPr sz="2025" b="1">
                <a:solidFill>
                  <a:srgbClr val="7258EF"/>
                </a:solidFill>
                <a:latin typeface="Nimbus Sans"/>
                <a:ea typeface="Nimbus Sans"/>
                <a:cs typeface="Nimbus Sans"/>
              </a:rPr>
              <a:t>Market size: research required</a:t>
            </a:r>
          </a:p>
        </p:txBody>
      </p:sp>
      <p:sp>
        <p:nvSpPr>
          <p:cNvPr id="10" name="No validated TAM, SAM or SOM in the PRD. Adja">
            <a:extLst xmlns:a="http://schemas.openxmlformats.org/drawingml/2006/main">
              <a:ext uri="{FF2B5EF4-FFF2-40B4-BE49-F238E27FC236}">
                <a16:creationId xmlns:a16="http://schemas.microsoft.com/office/drawing/2014/main" id="{4C12936E-CC4B-44BC-8C33-1B7DB25697F4}"/>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B80"/>
                </a:solidFill>
                <a:latin typeface="Nimbus Sans"/>
                <a:ea typeface="Nimbus Sans"/>
                <a:cs typeface="Nimbus Sans"/>
              </a:defRPr>
            </a:pPr>
            <a:r>
              <a:rPr sz="1200" b="0">
                <a:solidFill>
                  <a:srgbClr val="626B80"/>
                </a:solidFill>
                <a:latin typeface="Nimbus Sans"/>
                <a:ea typeface="Nimbus Sans"/>
                <a:cs typeface="Nimbus Sans"/>
              </a:rPr>
              <a:t>No validated TAM, SAM or SOM in the PRD. Adjacent segments are strategic hypotheses.</a:t>
            </a:r>
          </a:p>
        </p:txBody>
      </p:sp>
    </p:spTree>
    <p:extLst>
      <p:ext uri="{BB962C8B-B14F-4D97-AF65-F5344CB8AC3E}">
        <p14:creationId xmlns:p14="http://schemas.microsoft.com/office/powerpoint/2010/main" val="16995144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TTESTIA">
            <a:extLst xmlns:a="http://schemas.openxmlformats.org/drawingml/2006/main">
              <a:ext uri="{FF2B5EF4-FFF2-40B4-BE49-F238E27FC236}">
                <a16:creationId xmlns:a16="http://schemas.microsoft.com/office/drawing/2014/main" id="{9DC74AF0-22AF-4E85-BB2D-7A9333E653FA}"/>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258EF"/>
                </a:solidFill>
                <a:latin typeface="Nimbus Sans"/>
                <a:ea typeface="Nimbus Sans"/>
                <a:cs typeface="Nimbus Sans"/>
              </a:defRPr>
            </a:pPr>
            <a:r>
              <a:rPr sz="1500" b="1">
                <a:solidFill>
                  <a:srgbClr val="7258EF"/>
                </a:solidFill>
                <a:latin typeface="Nimbus Sans"/>
                <a:ea typeface="Nimbus Sans"/>
                <a:cs typeface="Nimbus Sans"/>
              </a:rPr>
              <a:t>ATTESTIA</a:t>
            </a:r>
          </a:p>
        </p:txBody>
      </p:sp>
      <p:sp>
        <p:nvSpPr>
          <p:cNvPr id="2" name="08 / BUSINESS MODEL">
            <a:extLst xmlns:a="http://schemas.openxmlformats.org/drawingml/2006/main">
              <a:ext uri="{FF2B5EF4-FFF2-40B4-BE49-F238E27FC236}">
                <a16:creationId xmlns:a16="http://schemas.microsoft.com/office/drawing/2014/main" id="{15F7EBE9-9CD4-451B-AB8E-413C076A2AB5}"/>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B80"/>
                </a:solidFill>
                <a:latin typeface="Nimbus Sans"/>
                <a:ea typeface="Nimbus Sans"/>
                <a:cs typeface="Nimbus Sans"/>
              </a:defRPr>
            </a:pPr>
            <a:r>
              <a:rPr sz="1050" b="0">
                <a:solidFill>
                  <a:srgbClr val="626B80"/>
                </a:solidFill>
                <a:latin typeface="Nimbus Sans"/>
                <a:ea typeface="Nimbus Sans"/>
                <a:cs typeface="Nimbus Sans"/>
              </a:rPr>
              <a:t>08 / BUSINESS MODEL</a:t>
            </a:r>
          </a:p>
        </p:txBody>
      </p:sp>
      <p:sp>
        <p:nvSpPr>
          <p:cNvPr id="3" name="Free profiles support&#10;paid organizational wor">
            <a:extLst xmlns:a="http://schemas.openxmlformats.org/drawingml/2006/main">
              <a:ext uri="{FF2B5EF4-FFF2-40B4-BE49-F238E27FC236}">
                <a16:creationId xmlns:a16="http://schemas.microsoft.com/office/drawing/2014/main" id="{C67A09C6-0A86-405D-9547-ADC25696FF56}"/>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Free profiles support</a:t>
            </a:r>
          </a:p>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paid organizational workflows</a:t>
            </a:r>
          </a:p>
        </p:txBody>
      </p:sp>
      <p:graphicFrame>
        <p:nvGraphicFramePr>
          <p:cNvPr id="9" name=""/>
          <p:cNvGraphicFramePr/>
          <p:nvPr/>
        </p:nvGraphicFramePr>
        <p:xfrm>
          <a:off xmlns:a="http://schemas.openxmlformats.org/drawingml/2006/main" x="609600" y="2228850"/>
          <a:ext xmlns:a="http://schemas.openxmlformats.org/drawingml/2006/main" cx="10972800" cy="3371850"/>
        </p:xfrm>
        <a:graphic xmlns:a="http://schemas.openxmlformats.org/drawingml/2006/main">
          <a:graphicData uri="http://schemas.openxmlformats.org/drawingml/2006/table">
            <a:tbl>
              <a:tblPr/>
              <a:tblGrid>
                <a:gridCol w="2238375"/>
                <a:gridCol w="2714625"/>
                <a:gridCol w="6019800"/>
              </a:tblGrid>
              <a:tr h="561975">
                <a:tc>
                  <a:txBody>
                    <a:bodyPr/>
                    <a:lstStyle/>
                    <a:p>
                      <a:r>
                        <a:rPr sz="1575" b="1">
                          <a:solidFill>
                            <a:srgbClr val="FFFFFF"/>
                          </a:solidFill>
                          <a:latin typeface="Nimbus Sans"/>
                          <a:ea typeface="Nimbus Sans"/>
                          <a:cs typeface="Nimbus Sans"/>
                        </a:rPr>
                        <a:t>Offering</a:t>
                      </a:r>
                    </a:p>
                  </a:txBody>
                  <a:tcPr marL="91440" marR="91440" marT="45720" marB="45720">
                    <a:solidFill>
                      <a:srgbClr val="10182F"/>
                    </a:solidFill>
                  </a:tcPr>
                </a:tc>
                <a:tc>
                  <a:txBody>
                    <a:bodyPr/>
                    <a:lstStyle/>
                    <a:p>
                      <a:r>
                        <a:rPr sz="1575" b="1">
                          <a:solidFill>
                            <a:srgbClr val="FFFFFF"/>
                          </a:solidFill>
                          <a:latin typeface="Nimbus Sans"/>
                          <a:ea typeface="Nimbus Sans"/>
                          <a:cs typeface="Nimbus Sans"/>
                        </a:rPr>
                        <a:t>Proposed price</a:t>
                      </a:r>
                    </a:p>
                  </a:txBody>
                  <a:tcPr marL="91440" marR="91440" marT="45720" marB="45720">
                    <a:solidFill>
                      <a:srgbClr val="10182F"/>
                    </a:solidFill>
                  </a:tcPr>
                </a:tc>
                <a:tc>
                  <a:txBody>
                    <a:bodyPr/>
                    <a:lstStyle/>
                    <a:p>
                      <a:r>
                        <a:rPr sz="1575" b="1">
                          <a:solidFill>
                            <a:srgbClr val="FFFFFF"/>
                          </a:solidFill>
                          <a:latin typeface="Nimbus Sans"/>
                          <a:ea typeface="Nimbus Sans"/>
                          <a:cs typeface="Nimbus Sans"/>
                        </a:rPr>
                        <a:t>Value</a:t>
                      </a:r>
                    </a:p>
                  </a:txBody>
                  <a:tcPr marL="91440" marR="91440" marT="45720" marB="45720">
                    <a:solidFill>
                      <a:srgbClr val="10182F"/>
                    </a:solidFill>
                  </a:tcPr>
                </a:tc>
              </a:tr>
              <a:tr h="561975">
                <a:tc>
                  <a:txBody>
                    <a:bodyPr/>
                    <a:lstStyle/>
                    <a:p>
                      <a:r>
                        <a:rPr sz="1725" b="1">
                          <a:solidFill>
                            <a:srgbClr val="10182F"/>
                          </a:solidFill>
                          <a:latin typeface="Nimbus Sans"/>
                          <a:ea typeface="Nimbus Sans"/>
                          <a:cs typeface="Nimbus Sans"/>
                        </a:rPr>
                        <a:t>Individual</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Free</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Public work history and export</a:t>
                      </a:r>
                    </a:p>
                  </a:txBody>
                  <a:tcPr marL="91440" marR="91440" marT="45720" marB="45720">
                    <a:solidFill>
                      <a:srgbClr val="FFFFFF"/>
                    </a:solidFill>
                  </a:tcPr>
                </a:tc>
              </a:tr>
              <a:tr h="561975">
                <a:tc>
                  <a:txBody>
                    <a:bodyPr/>
                    <a:lstStyle/>
                    <a:p>
                      <a:r>
                        <a:rPr sz="1725" b="1">
                          <a:solidFill>
                            <a:srgbClr val="10182F"/>
                          </a:solidFill>
                          <a:latin typeface="Nimbus Sans"/>
                          <a:ea typeface="Nimbus Sans"/>
                          <a:cs typeface="Nimbus Sans"/>
                        </a:rPr>
                        <a:t>Community</a:t>
                      </a:r>
                    </a:p>
                  </a:txBody>
                  <a:tcPr marL="91440" marR="91440" marT="45720" marB="45720">
                    <a:solidFill>
                      <a:srgbClr val="F5F6FA"/>
                    </a:solidFill>
                  </a:tcPr>
                </a:tc>
                <a:tc>
                  <a:txBody>
                    <a:bodyPr/>
                    <a:lstStyle/>
                    <a:p>
                      <a:r>
                        <a:rPr sz="1725" b="0">
                          <a:solidFill>
                            <a:srgbClr val="10182F"/>
                          </a:solidFill>
                          <a:latin typeface="Nimbus Sans"/>
                          <a:ea typeface="Nimbus Sans"/>
                          <a:cs typeface="Nimbus Sans"/>
                        </a:rPr>
                        <a:t>$29–$99 / month</a:t>
                      </a:r>
                    </a:p>
                  </a:txBody>
                  <a:tcPr marL="91440" marR="91440" marT="45720" marB="45720">
                    <a:solidFill>
                      <a:srgbClr val="F5F6FA"/>
                    </a:solidFill>
                  </a:tcPr>
                </a:tc>
                <a:tc>
                  <a:txBody>
                    <a:bodyPr/>
                    <a:lstStyle/>
                    <a:p>
                      <a:r>
                        <a:rPr sz="1725" b="0">
                          <a:solidFill>
                            <a:srgbClr val="10182F"/>
                          </a:solidFill>
                          <a:latin typeface="Nimbus Sans"/>
                          <a:ea typeface="Nimbus Sans"/>
                          <a:cs typeface="Nimbus Sans"/>
                        </a:rPr>
                        <a:t>Review queues, roles and rubrics</a:t>
                      </a:r>
                    </a:p>
                  </a:txBody>
                  <a:tcPr marL="91440" marR="91440" marT="45720" marB="45720">
                    <a:solidFill>
                      <a:srgbClr val="F5F6FA"/>
                    </a:solidFill>
                  </a:tcPr>
                </a:tc>
              </a:tr>
              <a:tr h="561975">
                <a:tc>
                  <a:txBody>
                    <a:bodyPr/>
                    <a:lstStyle/>
                    <a:p>
                      <a:r>
                        <a:rPr sz="1725" b="1">
                          <a:solidFill>
                            <a:srgbClr val="10182F"/>
                          </a:solidFill>
                          <a:latin typeface="Nimbus Sans"/>
                          <a:ea typeface="Nimbus Sans"/>
                          <a:cs typeface="Nimbus Sans"/>
                        </a:rPr>
                        <a:t>Organization</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$199–$499 / month</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Multiple workspaces and private evidence</a:t>
                      </a:r>
                    </a:p>
                  </a:txBody>
                  <a:tcPr marL="91440" marR="91440" marT="45720" marB="45720">
                    <a:solidFill>
                      <a:srgbClr val="FFFFFF"/>
                    </a:solidFill>
                  </a:tcPr>
                </a:tc>
              </a:tr>
              <a:tr h="561975">
                <a:tc>
                  <a:txBody>
                    <a:bodyPr/>
                    <a:lstStyle/>
                    <a:p>
                      <a:r>
                        <a:rPr sz="1725" b="1">
                          <a:solidFill>
                            <a:srgbClr val="10182F"/>
                          </a:solidFill>
                          <a:latin typeface="Nimbus Sans"/>
                          <a:ea typeface="Nimbus Sans"/>
                          <a:cs typeface="Nimbus Sans"/>
                        </a:rPr>
                        <a:t>API</a:t>
                      </a:r>
                    </a:p>
                  </a:txBody>
                  <a:tcPr marL="91440" marR="91440" marT="45720" marB="45720">
                    <a:solidFill>
                      <a:srgbClr val="F5F6FA"/>
                    </a:solidFill>
                  </a:tcPr>
                </a:tc>
                <a:tc>
                  <a:txBody>
                    <a:bodyPr/>
                    <a:lstStyle/>
                    <a:p>
                      <a:r>
                        <a:rPr sz="1725" b="0">
                          <a:solidFill>
                            <a:srgbClr val="10182F"/>
                          </a:solidFill>
                          <a:latin typeface="Nimbus Sans"/>
                          <a:ea typeface="Nimbus Sans"/>
                          <a:cs typeface="Nimbus Sans"/>
                        </a:rPr>
                        <a:t>Usage-based, TBD</a:t>
                      </a:r>
                    </a:p>
                  </a:txBody>
                  <a:tcPr marL="91440" marR="91440" marT="45720" marB="45720">
                    <a:solidFill>
                      <a:srgbClr val="F5F6FA"/>
                    </a:solidFill>
                  </a:tcPr>
                </a:tc>
                <a:tc>
                  <a:txBody>
                    <a:bodyPr/>
                    <a:lstStyle/>
                    <a:p>
                      <a:r>
                        <a:rPr sz="1725" b="0">
                          <a:solidFill>
                            <a:srgbClr val="10182F"/>
                          </a:solidFill>
                          <a:latin typeface="Nimbus Sans"/>
                          <a:ea typeface="Nimbus Sans"/>
                          <a:cs typeface="Nimbus Sans"/>
                        </a:rPr>
                        <a:t>Verification queries and webhooks</a:t>
                      </a:r>
                    </a:p>
                  </a:txBody>
                  <a:tcPr marL="91440" marR="91440" marT="45720" marB="45720">
                    <a:solidFill>
                      <a:srgbClr val="F5F6FA"/>
                    </a:solidFill>
                  </a:tcPr>
                </a:tc>
              </a:tr>
              <a:tr h="561975">
                <a:tc>
                  <a:txBody>
                    <a:bodyPr/>
                    <a:lstStyle/>
                    <a:p>
                      <a:r>
                        <a:rPr sz="1725" b="1">
                          <a:solidFill>
                            <a:srgbClr val="10182F"/>
                          </a:solidFill>
                          <a:latin typeface="Nimbus Sans"/>
                          <a:ea typeface="Nimbus Sans"/>
                          <a:cs typeface="Nimbus Sans"/>
                        </a:rPr>
                        <a:t>Enterprise</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Custom, TBD</a:t>
                      </a:r>
                    </a:p>
                  </a:txBody>
                  <a:tcPr marL="91440" marR="91440" marT="45720" marB="45720">
                    <a:solidFill>
                      <a:srgbClr val="FFFFFF"/>
                    </a:solidFill>
                  </a:tcPr>
                </a:tc>
                <a:tc>
                  <a:txBody>
                    <a:bodyPr/>
                    <a:lstStyle/>
                    <a:p>
                      <a:r>
                        <a:rPr sz="1725" b="0">
                          <a:solidFill>
                            <a:srgbClr val="10182F"/>
                          </a:solidFill>
                          <a:latin typeface="Nimbus Sans"/>
                          <a:ea typeface="Nimbus Sans"/>
                          <a:cs typeface="Nimbus Sans"/>
                        </a:rPr>
                        <a:t>Dedicated indexing and tailored controls</a:t>
                      </a:r>
                    </a:p>
                  </a:txBody>
                  <a:tcPr marL="91440" marR="91440" marT="45720" marB="45720">
                    <a:solidFill>
                      <a:srgbClr val="FFFFFF"/>
                    </a:solidFill>
                  </a:tcPr>
                </a:tc>
              </a:tr>
            </a:tbl>
          </a:graphicData>
        </a:graphic>
      </p:graphicFrame>
      <p:sp>
        <p:nvSpPr>
          <p:cNvPr id="5" name="Pricing hypotheses. Validate willingness to p">
            <a:extLst xmlns:a="http://schemas.openxmlformats.org/drawingml/2006/main">
              <a:ext uri="{FF2B5EF4-FFF2-40B4-BE49-F238E27FC236}">
                <a16:creationId xmlns:a16="http://schemas.microsoft.com/office/drawing/2014/main" id="{ECC5F317-83E1-4DE3-B35A-10B1BC0F3784}"/>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B80"/>
                </a:solidFill>
                <a:latin typeface="Nimbus Sans"/>
                <a:ea typeface="Nimbus Sans"/>
                <a:cs typeface="Nimbus Sans"/>
              </a:defRPr>
            </a:pPr>
            <a:r>
              <a:rPr sz="1200" b="0">
                <a:solidFill>
                  <a:srgbClr val="626B80"/>
                </a:solidFill>
                <a:latin typeface="Nimbus Sans"/>
                <a:ea typeface="Nimbus Sans"/>
                <a:cs typeface="Nimbus Sans"/>
              </a:rPr>
              <a:t>Pricing hypotheses. Validate willingness to pay and delivery costs before building billing.</a:t>
            </a:r>
          </a:p>
        </p:txBody>
      </p:sp>
    </p:spTree>
    <p:extLst>
      <p:ext uri="{BB962C8B-B14F-4D97-AF65-F5344CB8AC3E}">
        <p14:creationId xmlns:p14="http://schemas.microsoft.com/office/powerpoint/2010/main" val="17787987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TTESTIA">
            <a:extLst xmlns:a="http://schemas.openxmlformats.org/drawingml/2006/main">
              <a:ext uri="{FF2B5EF4-FFF2-40B4-BE49-F238E27FC236}">
                <a16:creationId xmlns:a16="http://schemas.microsoft.com/office/drawing/2014/main" id="{1ACE5A02-008B-49F4-9319-3D2A5246BE18}"/>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258EF"/>
                </a:solidFill>
                <a:latin typeface="Nimbus Sans"/>
                <a:ea typeface="Nimbus Sans"/>
                <a:cs typeface="Nimbus Sans"/>
              </a:defRPr>
            </a:pPr>
            <a:r>
              <a:rPr sz="1500" b="1">
                <a:solidFill>
                  <a:srgbClr val="7258EF"/>
                </a:solidFill>
                <a:latin typeface="Nimbus Sans"/>
                <a:ea typeface="Nimbus Sans"/>
                <a:cs typeface="Nimbus Sans"/>
              </a:rPr>
              <a:t>ATTESTIA</a:t>
            </a:r>
          </a:p>
        </p:txBody>
      </p:sp>
      <p:sp>
        <p:nvSpPr>
          <p:cNvPr id="2" name="09 / GO-TO-MARKET">
            <a:extLst xmlns:a="http://schemas.openxmlformats.org/drawingml/2006/main">
              <a:ext uri="{FF2B5EF4-FFF2-40B4-BE49-F238E27FC236}">
                <a16:creationId xmlns:a16="http://schemas.microsoft.com/office/drawing/2014/main" id="{8B4E839B-7A03-440B-90A6-802EB7A45D53}"/>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B80"/>
                </a:solidFill>
                <a:latin typeface="Nimbus Sans"/>
                <a:ea typeface="Nimbus Sans"/>
                <a:cs typeface="Nimbus Sans"/>
              </a:defRPr>
            </a:pPr>
            <a:r>
              <a:rPr sz="1050" b="0">
                <a:solidFill>
                  <a:srgbClr val="626B80"/>
                </a:solidFill>
                <a:latin typeface="Nimbus Sans"/>
                <a:ea typeface="Nimbus Sans"/>
                <a:cs typeface="Nimbus Sans"/>
              </a:rPr>
              <a:t>09 / GO-TO-MARKET</a:t>
            </a:r>
          </a:p>
        </p:txBody>
      </p:sp>
      <p:sp>
        <p:nvSpPr>
          <p:cNvPr id="3" name="The decisive signal is another&#10;community usin">
            <a:extLst xmlns:a="http://schemas.openxmlformats.org/drawingml/2006/main">
              <a:ext uri="{FF2B5EF4-FFF2-40B4-BE49-F238E27FC236}">
                <a16:creationId xmlns:a16="http://schemas.microsoft.com/office/drawing/2014/main" id="{1F586F2E-64AC-449C-8630-FF5310E92D4A}"/>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The decisive signal is another</a:t>
            </a:r>
          </a:p>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community using the record</a:t>
            </a:r>
          </a:p>
        </p:txBody>
      </p:sp>
      <p:sp>
        <p:nvSpPr>
          <p:cNvPr id="4" name="1 pilot community">
            <a:extLst xmlns:a="http://schemas.openxmlformats.org/drawingml/2006/main">
              <a:ext uri="{FF2B5EF4-FFF2-40B4-BE49-F238E27FC236}">
                <a16:creationId xmlns:a16="http://schemas.microsoft.com/office/drawing/2014/main" id="{6E75ECCE-FF1F-4CD8-A83D-38D1A8A41320}"/>
              </a:ext>
            </a:extLst>
          </p:cNvPr>
          <p:cNvSpPr>
            <a:spLocks xmlns:a="http://schemas.openxmlformats.org/drawingml/2006/main" noGrp="1"/>
          </p:cNvSpPr>
          <p:nvPr/>
        </p:nvSpPr>
        <p:spPr>
          <a:xfrm xmlns:a="http://schemas.openxmlformats.org/drawingml/2006/main">
            <a:off x="609600" y="2343150"/>
            <a:ext cx="381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258EF"/>
                </a:solidFill>
                <a:latin typeface="Nimbus Sans"/>
                <a:ea typeface="Nimbus Sans"/>
                <a:cs typeface="Nimbus Sans"/>
              </a:defRPr>
            </a:pPr>
            <a:r>
              <a:rPr sz="2550" b="1">
                <a:solidFill>
                  <a:srgbClr val="7258EF"/>
                </a:solidFill>
                <a:latin typeface="Nimbus Sans"/>
                <a:ea typeface="Nimbus Sans"/>
                <a:cs typeface="Nimbus Sans"/>
              </a:rPr>
              <a:t>1 pilot community</a:t>
            </a:r>
          </a:p>
        </p:txBody>
      </p:sp>
      <p:sp>
        <p:nvSpPr>
          <p:cNvPr id="5" name="10–20 credible reviewers">
            <a:extLst xmlns:a="http://schemas.openxmlformats.org/drawingml/2006/main">
              <a:ext uri="{FF2B5EF4-FFF2-40B4-BE49-F238E27FC236}">
                <a16:creationId xmlns:a16="http://schemas.microsoft.com/office/drawing/2014/main" id="{0ADE51B3-EA46-4DFA-A6CE-8B99908347DF}"/>
              </a:ext>
            </a:extLst>
          </p:cNvPr>
          <p:cNvSpPr>
            <a:spLocks xmlns:a="http://schemas.openxmlformats.org/drawingml/2006/main" noGrp="1"/>
          </p:cNvSpPr>
          <p:nvPr/>
        </p:nvSpPr>
        <p:spPr>
          <a:xfrm xmlns:a="http://schemas.openxmlformats.org/drawingml/2006/main">
            <a:off x="609600" y="30003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182F"/>
                </a:solidFill>
                <a:latin typeface="Nimbus Sans"/>
                <a:ea typeface="Nimbus Sans"/>
                <a:cs typeface="Nimbus Sans"/>
              </a:defRPr>
            </a:pPr>
            <a:r>
              <a:rPr sz="2400" b="1">
                <a:solidFill>
                  <a:srgbClr val="10182F"/>
                </a:solidFill>
                <a:latin typeface="Nimbus Sans"/>
                <a:ea typeface="Nimbus Sans"/>
                <a:cs typeface="Nimbus Sans"/>
              </a:rPr>
              <a:t>10–20 credible reviewers</a:t>
            </a:r>
          </a:p>
        </p:txBody>
      </p:sp>
      <p:sp>
        <p:nvSpPr>
          <p:cNvPr id="6" name="One contribution type">
            <a:extLst xmlns:a="http://schemas.openxmlformats.org/drawingml/2006/main">
              <a:ext uri="{FF2B5EF4-FFF2-40B4-BE49-F238E27FC236}">
                <a16:creationId xmlns:a16="http://schemas.microsoft.com/office/drawing/2014/main" id="{28BC55BB-4F4D-4C3F-910D-546DF66D1746}"/>
              </a:ext>
            </a:extLst>
          </p:cNvPr>
          <p:cNvSpPr>
            <a:spLocks xmlns:a="http://schemas.openxmlformats.org/drawingml/2006/main" noGrp="1"/>
          </p:cNvSpPr>
          <p:nvPr/>
        </p:nvSpPr>
        <p:spPr>
          <a:xfrm xmlns:a="http://schemas.openxmlformats.org/drawingml/2006/main">
            <a:off x="609600" y="3971925"/>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182F"/>
                </a:solidFill>
                <a:latin typeface="Nimbus Sans"/>
                <a:ea typeface="Nimbus Sans"/>
                <a:cs typeface="Nimbus Sans"/>
              </a:defRPr>
            </a:pPr>
            <a:r>
              <a:rPr sz="2175" b="1">
                <a:solidFill>
                  <a:srgbClr val="10182F"/>
                </a:solidFill>
                <a:latin typeface="Nimbus Sans"/>
                <a:ea typeface="Nimbus Sans"/>
                <a:cs typeface="Nimbus Sans"/>
              </a:rPr>
              <a:t>One contribution type</a:t>
            </a:r>
          </a:p>
        </p:txBody>
      </p:sp>
      <p:sp>
        <p:nvSpPr>
          <p:cNvPr id="7" name="Track repeat contribution or second-workspace">
            <a:extLst xmlns:a="http://schemas.openxmlformats.org/drawingml/2006/main">
              <a:ext uri="{FF2B5EF4-FFF2-40B4-BE49-F238E27FC236}">
                <a16:creationId xmlns:a16="http://schemas.microsoft.com/office/drawing/2014/main" id="{181BD206-5D65-4170-9CD2-A8A7774678F3}"/>
              </a:ext>
            </a:extLst>
          </p:cNvPr>
          <p:cNvSpPr>
            <a:spLocks xmlns:a="http://schemas.openxmlformats.org/drawingml/2006/main" noGrp="1"/>
          </p:cNvSpPr>
          <p:nvPr/>
        </p:nvSpPr>
        <p:spPr>
          <a:xfrm xmlns:a="http://schemas.openxmlformats.org/drawingml/2006/main">
            <a:off x="609600" y="4895850"/>
            <a:ext cx="3848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B80"/>
                </a:solidFill>
                <a:latin typeface="Nimbus Sans"/>
                <a:ea typeface="Nimbus Sans"/>
                <a:cs typeface="Nimbus Sans"/>
              </a:defRPr>
            </a:pPr>
            <a:r>
              <a:rPr sz="1875" b="0">
                <a:solidFill>
                  <a:srgbClr val="626B80"/>
                </a:solidFill>
                <a:latin typeface="Nimbus Sans"/>
                <a:ea typeface="Nimbus Sans"/>
                <a:cs typeface="Nimbus Sans"/>
              </a:rPr>
              <a:t>Track repeat contribution or second-workspace verification within 60 days.</a:t>
            </a:r>
          </a:p>
        </p:txBody>
      </p:sp>
      <p:graphicFrame>
        <p:nvGraphicFramePr>
          <p:cNvPr id="17" name=""/>
          <p:cNvGraphicFramePr/>
          <p:nvPr/>
        </p:nvGraphicFramePr>
        <p:xfrm>
          <a:off xmlns:a="http://schemas.openxmlformats.org/drawingml/2006/main" x="4762500" y="2305050"/>
          <a:ext xmlns:a="http://schemas.openxmlformats.org/drawingml/2006/main" cx="6810375" cy="3295650"/>
        </p:xfrm>
        <a:graphic xmlns:a="http://schemas.openxmlformats.org/drawingml/2006/main">
          <a:graphicData uri="http://schemas.openxmlformats.org/drawingml/2006/table">
            <a:tbl>
              <a:tblPr/>
              <a:tblGrid>
                <a:gridCol w="4191000"/>
                <a:gridCol w="2619375"/>
              </a:tblGrid>
              <a:tr h="549275">
                <a:tc>
                  <a:txBody>
                    <a:bodyPr/>
                    <a:lstStyle/>
                    <a:p>
                      <a:r>
                        <a:rPr sz="1500" b="1">
                          <a:solidFill>
                            <a:srgbClr val="FFFFFF"/>
                          </a:solidFill>
                          <a:latin typeface="Nimbus Sans"/>
                          <a:ea typeface="Nimbus Sans"/>
                          <a:cs typeface="Nimbus Sans"/>
                        </a:rPr>
                        <a:t>Pilot metric</a:t>
                      </a:r>
                    </a:p>
                  </a:txBody>
                  <a:tcPr marL="91440" marR="91440" marT="45720" marB="45720">
                    <a:solidFill>
                      <a:srgbClr val="10182F"/>
                    </a:solidFill>
                  </a:tcPr>
                </a:tc>
                <a:tc>
                  <a:txBody>
                    <a:bodyPr/>
                    <a:lstStyle/>
                    <a:p>
                      <a:r>
                        <a:rPr sz="1500" b="1">
                          <a:solidFill>
                            <a:srgbClr val="FFFFFF"/>
                          </a:solidFill>
                          <a:latin typeface="Nimbus Sans"/>
                          <a:ea typeface="Nimbus Sans"/>
                          <a:cs typeface="Nimbus Sans"/>
                        </a:rPr>
                        <a:t>Target hypothesis</a:t>
                      </a:r>
                    </a:p>
                  </a:txBody>
                  <a:tcPr marL="91440" marR="91440" marT="45720" marB="45720">
                    <a:solidFill>
                      <a:srgbClr val="10182F"/>
                    </a:solidFill>
                  </a:tcPr>
                </a:tc>
              </a:tr>
              <a:tr h="549275">
                <a:tc>
                  <a:txBody>
                    <a:bodyPr/>
                    <a:lstStyle/>
                    <a:p>
                      <a:r>
                        <a:rPr sz="1650" b="1">
                          <a:solidFill>
                            <a:srgbClr val="10182F"/>
                          </a:solidFill>
                          <a:latin typeface="Nimbus Sans"/>
                          <a:ea typeface="Nimbus Sans"/>
                          <a:cs typeface="Nimbus Sans"/>
                        </a:rPr>
                        <a:t>New users publishing</a:t>
                      </a:r>
                    </a:p>
                  </a:txBody>
                  <a:tcPr marL="91440" marR="91440" marT="45720" marB="45720">
                    <a:solidFill>
                      <a:srgbClr val="FFFFFF"/>
                    </a:solidFill>
                  </a:tcPr>
                </a:tc>
                <a:tc>
                  <a:txBody>
                    <a:bodyPr/>
                    <a:lstStyle/>
                    <a:p>
                      <a:r>
                        <a:rPr sz="1650" b="0">
                          <a:solidFill>
                            <a:srgbClr val="10182F"/>
                          </a:solidFill>
                          <a:latin typeface="Nimbus Sans"/>
                          <a:ea typeface="Nimbus Sans"/>
                          <a:cs typeface="Nimbus Sans"/>
                        </a:rPr>
                        <a:t>≥40%</a:t>
                      </a:r>
                    </a:p>
                  </a:txBody>
                  <a:tcPr marL="91440" marR="91440" marT="45720" marB="45720">
                    <a:solidFill>
                      <a:srgbClr val="FFFFFF"/>
                    </a:solidFill>
                  </a:tcPr>
                </a:tc>
              </a:tr>
              <a:tr h="549275">
                <a:tc>
                  <a:txBody>
                    <a:bodyPr/>
                    <a:lstStyle/>
                    <a:p>
                      <a:r>
                        <a:rPr sz="1650" b="1">
                          <a:solidFill>
                            <a:srgbClr val="10182F"/>
                          </a:solidFill>
                          <a:latin typeface="Nimbus Sans"/>
                          <a:ea typeface="Nimbus Sans"/>
                          <a:cs typeface="Nimbus Sans"/>
                        </a:rPr>
                        <a:t>Reviewer decision rate</a:t>
                      </a:r>
                    </a:p>
                  </a:txBody>
                  <a:tcPr marL="91440" marR="91440" marT="45720" marB="45720">
                    <a:solidFill>
                      <a:srgbClr val="F5F6FA"/>
                    </a:solidFill>
                  </a:tcPr>
                </a:tc>
                <a:tc>
                  <a:txBody>
                    <a:bodyPr/>
                    <a:lstStyle/>
                    <a:p>
                      <a:r>
                        <a:rPr sz="1650" b="0">
                          <a:solidFill>
                            <a:srgbClr val="10182F"/>
                          </a:solidFill>
                          <a:latin typeface="Nimbus Sans"/>
                          <a:ea typeface="Nimbus Sans"/>
                          <a:cs typeface="Nimbus Sans"/>
                        </a:rPr>
                        <a:t>≥50%</a:t>
                      </a:r>
                    </a:p>
                  </a:txBody>
                  <a:tcPr marL="91440" marR="91440" marT="45720" marB="45720">
                    <a:solidFill>
                      <a:srgbClr val="F5F6FA"/>
                    </a:solidFill>
                  </a:tcPr>
                </a:tc>
              </a:tr>
              <a:tr h="549275">
                <a:tc>
                  <a:txBody>
                    <a:bodyPr/>
                    <a:lstStyle/>
                    <a:p>
                      <a:r>
                        <a:rPr sz="1650" b="1">
                          <a:solidFill>
                            <a:srgbClr val="10182F"/>
                          </a:solidFill>
                          <a:latin typeface="Nimbus Sans"/>
                          <a:ea typeface="Nimbus Sans"/>
                          <a:cs typeface="Nimbus Sans"/>
                        </a:rPr>
                        <a:t>First attestation, median</a:t>
                      </a:r>
                    </a:p>
                  </a:txBody>
                  <a:tcPr marL="91440" marR="91440" marT="45720" marB="45720">
                    <a:solidFill>
                      <a:srgbClr val="FFFFFF"/>
                    </a:solidFill>
                  </a:tcPr>
                </a:tc>
                <a:tc>
                  <a:txBody>
                    <a:bodyPr/>
                    <a:lstStyle/>
                    <a:p>
                      <a:r>
                        <a:rPr sz="1650" b="0">
                          <a:solidFill>
                            <a:srgbClr val="10182F"/>
                          </a:solidFill>
                          <a:latin typeface="Nimbus Sans"/>
                          <a:ea typeface="Nimbus Sans"/>
                          <a:cs typeface="Nimbus Sans"/>
                        </a:rPr>
                        <a:t>&lt;48 hours</a:t>
                      </a:r>
                    </a:p>
                  </a:txBody>
                  <a:tcPr marL="91440" marR="91440" marT="45720" marB="45720">
                    <a:solidFill>
                      <a:srgbClr val="FFFFFF"/>
                    </a:solidFill>
                  </a:tcPr>
                </a:tc>
              </a:tr>
              <a:tr h="549275">
                <a:tc>
                  <a:txBody>
                    <a:bodyPr/>
                    <a:lstStyle/>
                    <a:p>
                      <a:r>
                        <a:rPr sz="1650" b="1">
                          <a:solidFill>
                            <a:srgbClr val="10182F"/>
                          </a:solidFill>
                          <a:latin typeface="Nimbus Sans"/>
                          <a:ea typeface="Nimbus Sans"/>
                          <a:cs typeface="Nimbus Sans"/>
                        </a:rPr>
                        <a:t>Accessible evidence</a:t>
                      </a:r>
                    </a:p>
                  </a:txBody>
                  <a:tcPr marL="91440" marR="91440" marT="45720" marB="45720">
                    <a:solidFill>
                      <a:srgbClr val="F5F6FA"/>
                    </a:solidFill>
                  </a:tcPr>
                </a:tc>
                <a:tc>
                  <a:txBody>
                    <a:bodyPr/>
                    <a:lstStyle/>
                    <a:p>
                      <a:r>
                        <a:rPr sz="1650" b="0">
                          <a:solidFill>
                            <a:srgbClr val="10182F"/>
                          </a:solidFill>
                          <a:latin typeface="Nimbus Sans"/>
                          <a:ea typeface="Nimbus Sans"/>
                          <a:cs typeface="Nimbus Sans"/>
                        </a:rPr>
                        <a:t>≥90%</a:t>
                      </a:r>
                    </a:p>
                  </a:txBody>
                  <a:tcPr marL="91440" marR="91440" marT="45720" marB="45720">
                    <a:solidFill>
                      <a:srgbClr val="F5F6FA"/>
                    </a:solidFill>
                  </a:tcPr>
                </a:tc>
              </a:tr>
              <a:tr h="549275">
                <a:tc>
                  <a:txBody>
                    <a:bodyPr/>
                    <a:lstStyle/>
                    <a:p>
                      <a:r>
                        <a:rPr sz="1650" b="1">
                          <a:solidFill>
                            <a:srgbClr val="10182F"/>
                          </a:solidFill>
                          <a:latin typeface="Nimbus Sans"/>
                          <a:ea typeface="Nimbus Sans"/>
                          <a:cs typeface="Nimbus Sans"/>
                        </a:rPr>
                        <a:t>Required claims in 7 days</a:t>
                      </a:r>
                    </a:p>
                  </a:txBody>
                  <a:tcPr marL="91440" marR="91440" marT="45720" marB="45720">
                    <a:solidFill>
                      <a:srgbClr val="FFFFFF"/>
                    </a:solidFill>
                  </a:tcPr>
                </a:tc>
                <a:tc>
                  <a:txBody>
                    <a:bodyPr/>
                    <a:lstStyle/>
                    <a:p>
                      <a:r>
                        <a:rPr sz="1650" b="0">
                          <a:solidFill>
                            <a:srgbClr val="10182F"/>
                          </a:solidFill>
                          <a:latin typeface="Nimbus Sans"/>
                          <a:ea typeface="Nimbus Sans"/>
                          <a:cs typeface="Nimbus Sans"/>
                        </a:rPr>
                        <a:t>North star: baseline TBD</a:t>
                      </a:r>
                    </a:p>
                  </a:txBody>
                  <a:tcPr marL="91440" marR="91440" marT="45720" marB="45720">
                    <a:solidFill>
                      <a:srgbClr val="FFFFFF"/>
                    </a:solidFill>
                  </a:tcPr>
                </a:tc>
              </a:tr>
            </a:tbl>
          </a:graphicData>
        </a:graphic>
      </p:graphicFrame>
      <p:sp>
        <p:nvSpPr>
          <p:cNvPr id="9" name="Targets are hypotheses, not traction. Second-">
            <a:extLst xmlns:a="http://schemas.openxmlformats.org/drawingml/2006/main">
              <a:ext uri="{FF2B5EF4-FFF2-40B4-BE49-F238E27FC236}">
                <a16:creationId xmlns:a16="http://schemas.microsoft.com/office/drawing/2014/main" id="{859728F9-5205-42A7-BCD8-AB33EE4DBA7D}"/>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B80"/>
                </a:solidFill>
                <a:latin typeface="Nimbus Sans"/>
                <a:ea typeface="Nimbus Sans"/>
                <a:cs typeface="Nimbus Sans"/>
              </a:defRPr>
            </a:pPr>
            <a:r>
              <a:rPr sz="1200" b="0">
                <a:solidFill>
                  <a:srgbClr val="626B80"/>
                </a:solidFill>
                <a:latin typeface="Nimbus Sans"/>
                <a:ea typeface="Nimbus Sans"/>
                <a:cs typeface="Nimbus Sans"/>
              </a:rPr>
              <a:t>Targets are hypotheses, not traction. Second-workspace use tests the portability proposition.</a:t>
            </a:r>
          </a:p>
        </p:txBody>
      </p:sp>
    </p:spTree>
    <p:extLst>
      <p:ext uri="{BB962C8B-B14F-4D97-AF65-F5344CB8AC3E}">
        <p14:creationId xmlns:p14="http://schemas.microsoft.com/office/powerpoint/2010/main" val="12089061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TTESTIA">
            <a:extLst xmlns:a="http://schemas.openxmlformats.org/drawingml/2006/main">
              <a:ext uri="{FF2B5EF4-FFF2-40B4-BE49-F238E27FC236}">
                <a16:creationId xmlns:a16="http://schemas.microsoft.com/office/drawing/2014/main" id="{BAA4C5AF-0DF1-479F-92D1-30B196F90696}"/>
              </a:ext>
            </a:extLst>
          </p:cNvPr>
          <p:cNvSpPr>
            <a:spLocks xmlns:a="http://schemas.openxmlformats.org/drawingml/2006/main" noGrp="1"/>
          </p:cNvSpPr>
          <p:nvPr/>
        </p:nvSpPr>
        <p:spPr>
          <a:xfrm xmlns:a="http://schemas.openxmlformats.org/drawingml/2006/main">
            <a:off x="609600" y="3048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258EF"/>
                </a:solidFill>
                <a:latin typeface="Nimbus Sans"/>
                <a:ea typeface="Nimbus Sans"/>
                <a:cs typeface="Nimbus Sans"/>
              </a:defRPr>
            </a:pPr>
            <a:r>
              <a:rPr sz="1500" b="1">
                <a:solidFill>
                  <a:srgbClr val="7258EF"/>
                </a:solidFill>
                <a:latin typeface="Nimbus Sans"/>
                <a:ea typeface="Nimbus Sans"/>
                <a:cs typeface="Nimbus Sans"/>
              </a:rPr>
              <a:t>ATTESTIA</a:t>
            </a:r>
          </a:p>
        </p:txBody>
      </p:sp>
      <p:sp>
        <p:nvSpPr>
          <p:cNvPr id="2" name="10 / EXECUTION">
            <a:extLst xmlns:a="http://schemas.openxmlformats.org/drawingml/2006/main">
              <a:ext uri="{FF2B5EF4-FFF2-40B4-BE49-F238E27FC236}">
                <a16:creationId xmlns:a16="http://schemas.microsoft.com/office/drawing/2014/main" id="{2BE7D1C9-E641-4EF9-9C8A-0140BC485E3C}"/>
              </a:ext>
            </a:extLst>
          </p:cNvPr>
          <p:cNvSpPr>
            <a:spLocks xmlns:a="http://schemas.openxmlformats.org/drawingml/2006/main" noGrp="1"/>
          </p:cNvSpPr>
          <p:nvPr/>
        </p:nvSpPr>
        <p:spPr>
          <a:xfrm xmlns:a="http://schemas.openxmlformats.org/drawingml/2006/main">
            <a:off x="9048750" y="33337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6B80"/>
                </a:solidFill>
                <a:latin typeface="Nimbus Sans"/>
                <a:ea typeface="Nimbus Sans"/>
                <a:cs typeface="Nimbus Sans"/>
              </a:defRPr>
            </a:pPr>
            <a:r>
              <a:rPr sz="1050" b="0">
                <a:solidFill>
                  <a:srgbClr val="626B80"/>
                </a:solidFill>
                <a:latin typeface="Nimbus Sans"/>
                <a:ea typeface="Nimbus Sans"/>
                <a:cs typeface="Nimbus Sans"/>
              </a:rPr>
              <a:t>10 / EXECUTION</a:t>
            </a:r>
          </a:p>
        </p:txBody>
      </p:sp>
      <p:sp>
        <p:nvSpPr>
          <p:cNvPr id="3" name="The next milestone is a secure pilot&#10;with evi">
            <a:extLst xmlns:a="http://schemas.openxmlformats.org/drawingml/2006/main">
              <a:ext uri="{FF2B5EF4-FFF2-40B4-BE49-F238E27FC236}">
                <a16:creationId xmlns:a16="http://schemas.microsoft.com/office/drawing/2014/main" id="{7206F9B0-C75D-45B6-8CEB-AB0C8A3A0F51}"/>
              </a:ext>
            </a:extLst>
          </p:cNvPr>
          <p:cNvSpPr>
            <a:spLocks xmlns:a="http://schemas.openxmlformats.org/drawingml/2006/main" noGrp="1"/>
          </p:cNvSpPr>
          <p:nvPr/>
        </p:nvSpPr>
        <p:spPr>
          <a:xfrm xmlns:a="http://schemas.openxmlformats.org/drawingml/2006/main">
            <a:off x="609600" y="91440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The next milestone is a secure pilot</a:t>
            </a:r>
          </a:p>
          <a:p xmlns:a="http://schemas.openxmlformats.org/drawingml/2006/main">
            <a:pPr>
              <a:defRPr sz="3450" b="1">
                <a:solidFill>
                  <a:srgbClr val="10182F"/>
                </a:solidFill>
                <a:latin typeface="Nimbus Sans"/>
                <a:ea typeface="Nimbus Sans"/>
                <a:cs typeface="Nimbus Sans"/>
              </a:defRPr>
            </a:pPr>
            <a:r>
              <a:rPr sz="3450" b="1">
                <a:solidFill>
                  <a:srgbClr val="10182F"/>
                </a:solidFill>
                <a:latin typeface="Nimbus Sans"/>
                <a:ea typeface="Nimbus Sans"/>
                <a:cs typeface="Nimbus Sans"/>
              </a:rPr>
              <a:t>with evidence of repeat use</a:t>
            </a:r>
          </a:p>
        </p:txBody>
      </p:sp>
      <p:graphicFrame>
        <p:nvGraphicFramePr>
          <p:cNvPr id="11" name=""/>
          <p:cNvGraphicFramePr/>
          <p:nvPr/>
        </p:nvGraphicFramePr>
        <p:xfrm>
          <a:off xmlns:a="http://schemas.openxmlformats.org/drawingml/2006/main" x="609600" y="2200275"/>
          <a:ext xmlns:a="http://schemas.openxmlformats.org/drawingml/2006/main" cx="10972800" cy="3086100"/>
        </p:xfrm>
        <a:graphic xmlns:a="http://schemas.openxmlformats.org/drawingml/2006/main">
          <a:graphicData uri="http://schemas.openxmlformats.org/drawingml/2006/table">
            <a:tbl>
              <a:tblPr/>
              <a:tblGrid>
                <a:gridCol w="1905000"/>
                <a:gridCol w="4000500"/>
                <a:gridCol w="5067300"/>
              </a:tblGrid>
              <a:tr h="514350">
                <a:tc>
                  <a:txBody>
                    <a:bodyPr/>
                    <a:lstStyle/>
                    <a:p>
                      <a:r>
                        <a:rPr sz="1425" b="1">
                          <a:solidFill>
                            <a:srgbClr val="FFFFFF"/>
                          </a:solidFill>
                          <a:latin typeface="Nimbus Sans"/>
                          <a:ea typeface="Nimbus Sans"/>
                          <a:cs typeface="Nimbus Sans"/>
                        </a:rPr>
                        <a:t>Timing</a:t>
                      </a:r>
                    </a:p>
                  </a:txBody>
                  <a:tcPr marL="91440" marR="91440" marT="45720" marB="45720">
                    <a:solidFill>
                      <a:srgbClr val="10182F"/>
                    </a:solidFill>
                  </a:tcPr>
                </a:tc>
                <a:tc>
                  <a:txBody>
                    <a:bodyPr/>
                    <a:lstStyle/>
                    <a:p>
                      <a:r>
                        <a:rPr sz="1425" b="1">
                          <a:solidFill>
                            <a:srgbClr val="FFFFFF"/>
                          </a:solidFill>
                          <a:latin typeface="Nimbus Sans"/>
                          <a:ea typeface="Nimbus Sans"/>
                          <a:cs typeface="Nimbus Sans"/>
                        </a:rPr>
                        <a:t>Milestone</a:t>
                      </a:r>
                    </a:p>
                  </a:txBody>
                  <a:tcPr marL="91440" marR="91440" marT="45720" marB="45720">
                    <a:solidFill>
                      <a:srgbClr val="10182F"/>
                    </a:solidFill>
                  </a:tcPr>
                </a:tc>
                <a:tc>
                  <a:txBody>
                    <a:bodyPr/>
                    <a:lstStyle/>
                    <a:p>
                      <a:r>
                        <a:rPr sz="1425" b="1">
                          <a:solidFill>
                            <a:srgbClr val="FFFFFF"/>
                          </a:solidFill>
                          <a:latin typeface="Nimbus Sans"/>
                          <a:ea typeface="Nimbus Sans"/>
                          <a:cs typeface="Nimbus Sans"/>
                        </a:rPr>
                        <a:t>Decision gate</a:t>
                      </a:r>
                    </a:p>
                  </a:txBody>
                  <a:tcPr marL="91440" marR="91440" marT="45720" marB="45720">
                    <a:solidFill>
                      <a:srgbClr val="10182F"/>
                    </a:solidFill>
                  </a:tcPr>
                </a:tc>
              </a:tr>
              <a:tr h="514350">
                <a:tc>
                  <a:txBody>
                    <a:bodyPr/>
                    <a:lstStyle/>
                    <a:p>
                      <a:r>
                        <a:rPr sz="1575" b="1">
                          <a:solidFill>
                            <a:srgbClr val="10182F"/>
                          </a:solidFill>
                          <a:latin typeface="Nimbus Sans"/>
                          <a:ea typeface="Nimbus Sans"/>
                          <a:cs typeface="Nimbus Sans"/>
                        </a:rPr>
                        <a:t>Week 1</a:t>
                      </a:r>
                    </a:p>
                  </a:txBody>
                  <a:tcPr marL="91440" marR="91440" marT="45720" marB="45720">
                    <a:solidFill>
                      <a:srgbClr val="FFFFFF"/>
                    </a:solidFill>
                  </a:tcPr>
                </a:tc>
                <a:tc>
                  <a:txBody>
                    <a:bodyPr/>
                    <a:lstStyle/>
                    <a:p>
                      <a:r>
                        <a:rPr sz="1575" b="0">
                          <a:solidFill>
                            <a:srgbClr val="10182F"/>
                          </a:solidFill>
                          <a:latin typeface="Nimbus Sans"/>
                          <a:ea typeface="Nimbus Sans"/>
                          <a:cs typeface="Nimbus Sans"/>
                        </a:rPr>
                        <a:t>Discovery and pricing tests</a:t>
                      </a:r>
                    </a:p>
                  </a:txBody>
                  <a:tcPr marL="91440" marR="91440" marT="45720" marB="45720">
                    <a:solidFill>
                      <a:srgbClr val="FFFFFF"/>
                    </a:solidFill>
                  </a:tcPr>
                </a:tc>
                <a:tc>
                  <a:txBody>
                    <a:bodyPr/>
                    <a:lstStyle/>
                    <a:p>
                      <a:r>
                        <a:rPr sz="1575" b="0">
                          <a:solidFill>
                            <a:srgbClr val="10182F"/>
                          </a:solidFill>
                          <a:latin typeface="Nimbus Sans"/>
                          <a:ea typeface="Nimbus Sans"/>
                          <a:cs typeface="Nimbus Sans"/>
                        </a:rPr>
                        <a:t>One partner commitment</a:t>
                      </a:r>
                    </a:p>
                  </a:txBody>
                  <a:tcPr marL="91440" marR="91440" marT="45720" marB="45720">
                    <a:solidFill>
                      <a:srgbClr val="FFFFFF"/>
                    </a:solidFill>
                  </a:tcPr>
                </a:tc>
              </a:tr>
              <a:tr h="514350">
                <a:tc>
                  <a:txBody>
                    <a:bodyPr/>
                    <a:lstStyle/>
                    <a:p>
                      <a:r>
                        <a:rPr sz="1575" b="1">
                          <a:solidFill>
                            <a:srgbClr val="10182F"/>
                          </a:solidFill>
                          <a:latin typeface="Nimbus Sans"/>
                          <a:ea typeface="Nimbus Sans"/>
                          <a:cs typeface="Nimbus Sans"/>
                        </a:rPr>
                        <a:t>Weeks 2–5</a:t>
                      </a:r>
                    </a:p>
                  </a:txBody>
                  <a:tcPr marL="91440" marR="91440" marT="45720" marB="45720">
                    <a:solidFill>
                      <a:srgbClr val="F5F6FA"/>
                    </a:solidFill>
                  </a:tcPr>
                </a:tc>
                <a:tc>
                  <a:txBody>
                    <a:bodyPr/>
                    <a:lstStyle/>
                    <a:p>
                      <a:r>
                        <a:rPr sz="1575" b="0">
                          <a:solidFill>
                            <a:srgbClr val="10182F"/>
                          </a:solidFill>
                          <a:latin typeface="Nimbus Sans"/>
                          <a:ea typeface="Nimbus Sans"/>
                          <a:cs typeface="Nimbus Sans"/>
                        </a:rPr>
                        <a:t>Build the verification loop</a:t>
                      </a:r>
                    </a:p>
                  </a:txBody>
                  <a:tcPr marL="91440" marR="91440" marT="45720" marB="45720">
                    <a:solidFill>
                      <a:srgbClr val="F5F6FA"/>
                    </a:solidFill>
                  </a:tcPr>
                </a:tc>
                <a:tc>
                  <a:txBody>
                    <a:bodyPr/>
                    <a:lstStyle/>
                    <a:p>
                      <a:r>
                        <a:rPr sz="1575" b="0">
                          <a:solidFill>
                            <a:srgbClr val="10182F"/>
                          </a:solidFill>
                          <a:latin typeface="Nimbus Sans"/>
                          <a:ea typeface="Nimbus Sans"/>
                          <a:cs typeface="Nimbus Sans"/>
                        </a:rPr>
                        <a:t>Two-wallet end-to-end flow</a:t>
                      </a:r>
                    </a:p>
                  </a:txBody>
                  <a:tcPr marL="91440" marR="91440" marT="45720" marB="45720">
                    <a:solidFill>
                      <a:srgbClr val="F5F6FA"/>
                    </a:solidFill>
                  </a:tcPr>
                </a:tc>
              </a:tr>
              <a:tr h="514350">
                <a:tc>
                  <a:txBody>
                    <a:bodyPr/>
                    <a:lstStyle/>
                    <a:p>
                      <a:r>
                        <a:rPr sz="1575" b="1">
                          <a:solidFill>
                            <a:srgbClr val="10182F"/>
                          </a:solidFill>
                          <a:latin typeface="Nimbus Sans"/>
                          <a:ea typeface="Nimbus Sans"/>
                          <a:cs typeface="Nimbus Sans"/>
                        </a:rPr>
                        <a:t>Weeks 6–8</a:t>
                      </a:r>
                    </a:p>
                  </a:txBody>
                  <a:tcPr marL="91440" marR="91440" marT="45720" marB="45720">
                    <a:solidFill>
                      <a:srgbClr val="FFFFFF"/>
                    </a:solidFill>
                  </a:tcPr>
                </a:tc>
                <a:tc>
                  <a:txBody>
                    <a:bodyPr/>
                    <a:lstStyle/>
                    <a:p>
                      <a:r>
                        <a:rPr sz="1575" b="0">
                          <a:solidFill>
                            <a:srgbClr val="10182F"/>
                          </a:solidFill>
                          <a:latin typeface="Nimbus Sans"/>
                          <a:ea typeface="Nimbus Sans"/>
                          <a:cs typeface="Nimbus Sans"/>
                        </a:rPr>
                        <a:t>Context and hardening</a:t>
                      </a:r>
                    </a:p>
                  </a:txBody>
                  <a:tcPr marL="91440" marR="91440" marT="45720" marB="45720">
                    <a:solidFill>
                      <a:srgbClr val="FFFFFF"/>
                    </a:solidFill>
                  </a:tcPr>
                </a:tc>
                <a:tc>
                  <a:txBody>
                    <a:bodyPr/>
                    <a:lstStyle/>
                    <a:p>
                      <a:r>
                        <a:rPr sz="1575" b="0">
                          <a:solidFill>
                            <a:srgbClr val="10182F"/>
                          </a:solidFill>
                          <a:latin typeface="Nimbus Sans"/>
                          <a:ea typeface="Nimbus Sans"/>
                          <a:cs typeface="Nimbus Sans"/>
                        </a:rPr>
                        <a:t>Independent review; pilot readiness</a:t>
                      </a:r>
                    </a:p>
                  </a:txBody>
                  <a:tcPr marL="91440" marR="91440" marT="45720" marB="45720">
                    <a:solidFill>
                      <a:srgbClr val="FFFFFF"/>
                    </a:solidFill>
                  </a:tcPr>
                </a:tc>
              </a:tr>
              <a:tr h="514350">
                <a:tc>
                  <a:txBody>
                    <a:bodyPr/>
                    <a:lstStyle/>
                    <a:p>
                      <a:r>
                        <a:rPr sz="1575" b="1">
                          <a:solidFill>
                            <a:srgbClr val="10182F"/>
                          </a:solidFill>
                          <a:latin typeface="Nimbus Sans"/>
                          <a:ea typeface="Nimbus Sans"/>
                          <a:cs typeface="Nimbus Sans"/>
                        </a:rPr>
                        <a:t>Weeks 9–10</a:t>
                      </a:r>
                    </a:p>
                  </a:txBody>
                  <a:tcPr marL="91440" marR="91440" marT="45720" marB="45720">
                    <a:solidFill>
                      <a:srgbClr val="F5F6FA"/>
                    </a:solidFill>
                  </a:tcPr>
                </a:tc>
                <a:tc>
                  <a:txBody>
                    <a:bodyPr/>
                    <a:lstStyle/>
                    <a:p>
                      <a:r>
                        <a:rPr sz="1575" b="0">
                          <a:solidFill>
                            <a:srgbClr val="10182F"/>
                          </a:solidFill>
                          <a:latin typeface="Nimbus Sans"/>
                          <a:ea typeface="Nimbus Sans"/>
                          <a:cs typeface="Nimbus Sans"/>
                        </a:rPr>
                        <a:t>Capped mainnet pilot</a:t>
                      </a:r>
                    </a:p>
                  </a:txBody>
                  <a:tcPr marL="91440" marR="91440" marT="45720" marB="45720">
                    <a:solidFill>
                      <a:srgbClr val="F5F6FA"/>
                    </a:solidFill>
                  </a:tcPr>
                </a:tc>
                <a:tc>
                  <a:txBody>
                    <a:bodyPr/>
                    <a:lstStyle/>
                    <a:p>
                      <a:r>
                        <a:rPr sz="1575" b="0">
                          <a:solidFill>
                            <a:srgbClr val="10182F"/>
                          </a:solidFill>
                          <a:latin typeface="Nimbus Sans"/>
                          <a:ea typeface="Nimbus Sans"/>
                          <a:cs typeface="Nimbus Sans"/>
                        </a:rPr>
                        <a:t>Stable operations; zero critical/high issues</a:t>
                      </a:r>
                    </a:p>
                  </a:txBody>
                  <a:tcPr marL="91440" marR="91440" marT="45720" marB="45720">
                    <a:solidFill>
                      <a:srgbClr val="F5F6FA"/>
                    </a:solidFill>
                  </a:tcPr>
                </a:tc>
              </a:tr>
              <a:tr h="514350">
                <a:tc>
                  <a:txBody>
                    <a:bodyPr/>
                    <a:lstStyle/>
                    <a:p>
                      <a:r>
                        <a:rPr sz="1575" b="1">
                          <a:solidFill>
                            <a:srgbClr val="10182F"/>
                          </a:solidFill>
                          <a:latin typeface="Nimbus Sans"/>
                          <a:ea typeface="Nimbus Sans"/>
                          <a:cs typeface="Nimbus Sans"/>
                        </a:rPr>
                        <a:t>Post-pilot</a:t>
                      </a:r>
                    </a:p>
                  </a:txBody>
                  <a:tcPr marL="91440" marR="91440" marT="45720" marB="45720">
                    <a:solidFill>
                      <a:srgbClr val="FFFFFF"/>
                    </a:solidFill>
                  </a:tcPr>
                </a:tc>
                <a:tc>
                  <a:txBody>
                    <a:bodyPr/>
                    <a:lstStyle/>
                    <a:p>
                      <a:r>
                        <a:rPr sz="1575" b="0">
                          <a:solidFill>
                            <a:srgbClr val="10182F"/>
                          </a:solidFill>
                          <a:latin typeface="Nimbus Sans"/>
                          <a:ea typeface="Nimbus Sans"/>
                          <a:cs typeface="Nimbus Sans"/>
                        </a:rPr>
                        <a:t>Retention and monetization</a:t>
                      </a:r>
                    </a:p>
                  </a:txBody>
                  <a:tcPr marL="91440" marR="91440" marT="45720" marB="45720">
                    <a:solidFill>
                      <a:srgbClr val="FFFFFF"/>
                    </a:solidFill>
                  </a:tcPr>
                </a:tc>
                <a:tc>
                  <a:txBody>
                    <a:bodyPr/>
                    <a:lstStyle/>
                    <a:p>
                      <a:r>
                        <a:rPr sz="1575" b="0">
                          <a:solidFill>
                            <a:srgbClr val="10182F"/>
                          </a:solidFill>
                          <a:latin typeface="Nimbus Sans"/>
                          <a:ea typeface="Nimbus Sans"/>
                          <a:cs typeface="Nimbus Sans"/>
                        </a:rPr>
                        <a:t>60-day reuse and willingness to pay</a:t>
                      </a:r>
                    </a:p>
                  </a:txBody>
                  <a:tcPr marL="91440" marR="91440" marT="45720" marB="45720">
                    <a:solidFill>
                      <a:srgbClr val="FFFFFF"/>
                    </a:solidFill>
                  </a:tcPr>
                </a:tc>
              </a:tr>
            </a:tbl>
          </a:graphicData>
        </a:graphic>
      </p:graphicFrame>
      <p:sp>
        <p:nvSpPr>
          <p:cNvPr id="5" name="Funding priorities">
            <a:extLst xmlns:a="http://schemas.openxmlformats.org/drawingml/2006/main">
              <a:ext uri="{FF2B5EF4-FFF2-40B4-BE49-F238E27FC236}">
                <a16:creationId xmlns:a16="http://schemas.microsoft.com/office/drawing/2014/main" id="{AA68278C-A144-4297-A463-93A0614A286D}"/>
              </a:ext>
            </a:extLst>
          </p:cNvPr>
          <p:cNvSpPr>
            <a:spLocks xmlns:a="http://schemas.openxmlformats.org/drawingml/2006/main" noGrp="1"/>
          </p:cNvSpPr>
          <p:nvPr/>
        </p:nvSpPr>
        <p:spPr>
          <a:xfrm xmlns:a="http://schemas.openxmlformats.org/drawingml/2006/main">
            <a:off x="609600" y="55435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258EF"/>
                </a:solidFill>
                <a:latin typeface="Nimbus Sans"/>
                <a:ea typeface="Nimbus Sans"/>
                <a:cs typeface="Nimbus Sans"/>
              </a:defRPr>
            </a:pPr>
            <a:r>
              <a:rPr sz="1875" b="1">
                <a:solidFill>
                  <a:srgbClr val="7258EF"/>
                </a:solidFill>
                <a:latin typeface="Nimbus Sans"/>
                <a:ea typeface="Nimbus Sans"/>
                <a:cs typeface="Nimbus Sans"/>
              </a:rPr>
              <a:t>Funding priorities</a:t>
            </a:r>
          </a:p>
        </p:txBody>
      </p:sp>
      <p:sp>
        <p:nvSpPr>
          <p:cNvPr id="6" name="Engineering capacity, independent review and ">
            <a:extLst xmlns:a="http://schemas.openxmlformats.org/drawingml/2006/main">
              <a:ext uri="{FF2B5EF4-FFF2-40B4-BE49-F238E27FC236}">
                <a16:creationId xmlns:a16="http://schemas.microsoft.com/office/drawing/2014/main" id="{4C9F6051-82E2-42BF-91C0-175574D40521}"/>
              </a:ext>
            </a:extLst>
          </p:cNvPr>
          <p:cNvSpPr>
            <a:spLocks xmlns:a="http://schemas.openxmlformats.org/drawingml/2006/main" noGrp="1"/>
          </p:cNvSpPr>
          <p:nvPr/>
        </p:nvSpPr>
        <p:spPr>
          <a:xfrm xmlns:a="http://schemas.openxmlformats.org/drawingml/2006/main">
            <a:off x="3705225" y="5543550"/>
            <a:ext cx="781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0182F"/>
                </a:solidFill>
                <a:latin typeface="Nimbus Sans"/>
                <a:ea typeface="Nimbus Sans"/>
                <a:cs typeface="Nimbus Sans"/>
              </a:defRPr>
            </a:pPr>
            <a:r>
              <a:rPr sz="1800" b="0">
                <a:solidFill>
                  <a:srgbClr val="10182F"/>
                </a:solidFill>
                <a:latin typeface="Nimbus Sans"/>
                <a:ea typeface="Nimbus Sans"/>
                <a:cs typeface="Nimbus Sans"/>
              </a:rPr>
              <a:t>Engineering capacity, independent review and pilot validation.</a:t>
            </a:r>
          </a:p>
        </p:txBody>
      </p:sp>
      <p:sp>
        <p:nvSpPr>
          <p:cNvPr id="7" name="Solo-builder plan. Raise and runway remain to">
            <a:extLst xmlns:a="http://schemas.openxmlformats.org/drawingml/2006/main">
              <a:ext uri="{FF2B5EF4-FFF2-40B4-BE49-F238E27FC236}">
                <a16:creationId xmlns:a16="http://schemas.microsoft.com/office/drawing/2014/main" id="{249BD4F4-DEDB-40C7-A8BC-45F2442A4B8C}"/>
              </a:ext>
            </a:extLst>
          </p:cNvPr>
          <p:cNvSpPr>
            <a:spLocks xmlns:a="http://schemas.openxmlformats.org/drawingml/2006/main" noGrp="1"/>
          </p:cNvSpPr>
          <p:nvPr/>
        </p:nvSpPr>
        <p:spPr>
          <a:xfrm xmlns:a="http://schemas.openxmlformats.org/drawingml/2006/main">
            <a:off x="609600" y="6296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26B80"/>
                </a:solidFill>
                <a:latin typeface="Nimbus Sans"/>
                <a:ea typeface="Nimbus Sans"/>
                <a:cs typeface="Nimbus Sans"/>
              </a:defRPr>
            </a:pPr>
            <a:r>
              <a:rPr sz="1200" b="0">
                <a:solidFill>
                  <a:srgbClr val="626B80"/>
                </a:solidFill>
                <a:latin typeface="Nimbus Sans"/>
                <a:ea typeface="Nimbus Sans"/>
                <a:cs typeface="Nimbus Sans"/>
              </a:rPr>
              <a:t>Solo-builder plan. Raise and runway remain to be defined. Timeline is provisional.</a:t>
            </a:r>
          </a:p>
        </p:txBody>
      </p:sp>
    </p:spTree>
    <p:extLst>
      <p:ext uri="{BB962C8B-B14F-4D97-AF65-F5344CB8AC3E}">
        <p14:creationId xmlns:p14="http://schemas.microsoft.com/office/powerpoint/2010/main" val="10817991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2026-09-10T12:20:29.3390000Z</dcterms:created>
  <dcterms:modified xsi:type="dcterms:W3CDTF">2026-09-10T12:20:29.3390000Z</dcterms:modified>
</coreProperties>
</file>